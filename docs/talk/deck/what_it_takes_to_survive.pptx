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Debt money</c:v>
                </c:pt>
              </c:strCache>
            </c:strRef>
          </c:tx>
          <c:spPr>
            <a:solidFill>
              <a:srgbClr val="B8541C"/>
            </a:solidFill>
            <a:ln w="38100" cap="flat">
              <a:solidFill>
                <a:srgbClr val="B854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541C"/>
              </a:solidFill>
              <a:ln w="9525" cap="flat">
                <a:solidFill>
                  <a:srgbClr val="B8541C"/>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Sheet1!$B$2:$B$121</c:f>
              <c:numCache>
                <c:formatCode>General</c:formatCode>
                <c:ptCount val="120"/>
                <c:pt idx="0">
                  <c:v>4158</c:v>
                </c:pt>
                <c:pt idx="1">
                  <c:v>6855</c:v>
                </c:pt>
                <c:pt idx="2">
                  <c:v>8796</c:v>
                </c:pt>
                <c:pt idx="3">
                  <c:v>8948</c:v>
                </c:pt>
                <c:pt idx="4">
                  <c:v>10894</c:v>
                </c:pt>
                <c:pt idx="5">
                  <c:v>20209</c:v>
                </c:pt>
                <c:pt idx="6">
                  <c:v>21711</c:v>
                </c:pt>
                <c:pt idx="7">
                  <c:v>22682</c:v>
                </c:pt>
                <c:pt idx="8">
                  <c:v>23658</c:v>
                </c:pt>
                <c:pt idx="9">
                  <c:v>24794</c:v>
                </c:pt>
                <c:pt idx="10">
                  <c:v>25359</c:v>
                </c:pt>
                <c:pt idx="11">
                  <c:v>26861</c:v>
                </c:pt>
                <c:pt idx="12">
                  <c:v>28381</c:v>
                </c:pt>
                <c:pt idx="13">
                  <c:v>29310</c:v>
                </c:pt>
                <c:pt idx="14">
                  <c:v>30264</c:v>
                </c:pt>
                <c:pt idx="15">
                  <c:v>31591</c:v>
                </c:pt>
                <c:pt idx="16">
                  <c:v>32739</c:v>
                </c:pt>
                <c:pt idx="17">
                  <c:v>34266</c:v>
                </c:pt>
                <c:pt idx="18">
                  <c:v>35395</c:v>
                </c:pt>
                <c:pt idx="19">
                  <c:v>36702</c:v>
                </c:pt>
                <c:pt idx="20">
                  <c:v>38205</c:v>
                </c:pt>
                <c:pt idx="21">
                  <c:v>39672</c:v>
                </c:pt>
                <c:pt idx="22">
                  <c:v>40940</c:v>
                </c:pt>
                <c:pt idx="23">
                  <c:v>42211</c:v>
                </c:pt>
                <c:pt idx="24">
                  <c:v>43651</c:v>
                </c:pt>
                <c:pt idx="25">
                  <c:v>45128</c:v>
                </c:pt>
                <c:pt idx="26">
                  <c:v>46394</c:v>
                </c:pt>
                <c:pt idx="27">
                  <c:v>47702</c:v>
                </c:pt>
                <c:pt idx="28">
                  <c:v>49204</c:v>
                </c:pt>
                <c:pt idx="29">
                  <c:v>50816</c:v>
                </c:pt>
                <c:pt idx="30">
                  <c:v>52216</c:v>
                </c:pt>
                <c:pt idx="31">
                  <c:v>53907</c:v>
                </c:pt>
                <c:pt idx="32">
                  <c:v>55567</c:v>
                </c:pt>
                <c:pt idx="33">
                  <c:v>57219</c:v>
                </c:pt>
                <c:pt idx="34">
                  <c:v>58392</c:v>
                </c:pt>
                <c:pt idx="35">
                  <c:v>59643</c:v>
                </c:pt>
                <c:pt idx="36">
                  <c:v>61263</c:v>
                </c:pt>
                <c:pt idx="37">
                  <c:v>62447</c:v>
                </c:pt>
                <c:pt idx="38">
                  <c:v>64144</c:v>
                </c:pt>
                <c:pt idx="39">
                  <c:v>65651</c:v>
                </c:pt>
                <c:pt idx="40">
                  <c:v>67315</c:v>
                </c:pt>
                <c:pt idx="41">
                  <c:v>68503</c:v>
                </c:pt>
                <c:pt idx="42">
                  <c:v>70017</c:v>
                </c:pt>
                <c:pt idx="43">
                  <c:v>71319</c:v>
                </c:pt>
                <c:pt idx="44">
                  <c:v>72877</c:v>
                </c:pt>
                <c:pt idx="45">
                  <c:v>74110</c:v>
                </c:pt>
                <c:pt idx="46">
                  <c:v>75519</c:v>
                </c:pt>
                <c:pt idx="47">
                  <c:v>77032</c:v>
                </c:pt>
                <c:pt idx="48">
                  <c:v>78667</c:v>
                </c:pt>
                <c:pt idx="49">
                  <c:v>80208</c:v>
                </c:pt>
                <c:pt idx="50">
                  <c:v>81983</c:v>
                </c:pt>
                <c:pt idx="51">
                  <c:v>83820</c:v>
                </c:pt>
                <c:pt idx="52">
                  <c:v>85580</c:v>
                </c:pt>
                <c:pt idx="53">
                  <c:v>86882</c:v>
                </c:pt>
                <c:pt idx="54">
                  <c:v>88521</c:v>
                </c:pt>
                <c:pt idx="55">
                  <c:v>89966</c:v>
                </c:pt>
                <c:pt idx="56">
                  <c:v>91633</c:v>
                </c:pt>
                <c:pt idx="57">
                  <c:v>92936</c:v>
                </c:pt>
                <c:pt idx="58">
                  <c:v>94768</c:v>
                </c:pt>
                <c:pt idx="59">
                  <c:v>96193</c:v>
                </c:pt>
                <c:pt idx="60">
                  <c:v>97884</c:v>
                </c:pt>
                <c:pt idx="61">
                  <c:v>99196</c:v>
                </c:pt>
                <c:pt idx="62">
                  <c:v>100849</c:v>
                </c:pt>
                <c:pt idx="63">
                  <c:v>102306</c:v>
                </c:pt>
                <c:pt idx="64">
                  <c:v>103965</c:v>
                </c:pt>
                <c:pt idx="65">
                  <c:v>105658</c:v>
                </c:pt>
                <c:pt idx="66">
                  <c:v>106751</c:v>
                </c:pt>
                <c:pt idx="67">
                  <c:v>108657</c:v>
                </c:pt>
                <c:pt idx="68">
                  <c:v>109886</c:v>
                </c:pt>
                <c:pt idx="69">
                  <c:v>111312</c:v>
                </c:pt>
                <c:pt idx="70">
                  <c:v>113069</c:v>
                </c:pt>
                <c:pt idx="71">
                  <c:v>114581</c:v>
                </c:pt>
                <c:pt idx="72">
                  <c:v>115919</c:v>
                </c:pt>
                <c:pt idx="73">
                  <c:v>117667</c:v>
                </c:pt>
                <c:pt idx="74">
                  <c:v>118914</c:v>
                </c:pt>
                <c:pt idx="75">
                  <c:v>120695</c:v>
                </c:pt>
                <c:pt idx="76">
                  <c:v>122129</c:v>
                </c:pt>
                <c:pt idx="77">
                  <c:v>123872</c:v>
                </c:pt>
                <c:pt idx="78">
                  <c:v>125750</c:v>
                </c:pt>
                <c:pt idx="79">
                  <c:v>127359</c:v>
                </c:pt>
                <c:pt idx="80">
                  <c:v>128717</c:v>
                </c:pt>
                <c:pt idx="81">
                  <c:v>130310</c:v>
                </c:pt>
                <c:pt idx="82">
                  <c:v>132241</c:v>
                </c:pt>
                <c:pt idx="83">
                  <c:v>134106</c:v>
                </c:pt>
                <c:pt idx="84">
                  <c:v>135906</c:v>
                </c:pt>
                <c:pt idx="85">
                  <c:v>137712</c:v>
                </c:pt>
                <c:pt idx="86">
                  <c:v>139289</c:v>
                </c:pt>
                <c:pt idx="87">
                  <c:v>141048</c:v>
                </c:pt>
                <c:pt idx="88">
                  <c:v>142941</c:v>
                </c:pt>
                <c:pt idx="89">
                  <c:v>144897</c:v>
                </c:pt>
                <c:pt idx="90">
                  <c:v>146374</c:v>
                </c:pt>
                <c:pt idx="91">
                  <c:v>148488</c:v>
                </c:pt>
                <c:pt idx="92">
                  <c:v>150273</c:v>
                </c:pt>
                <c:pt idx="93">
                  <c:v>151625</c:v>
                </c:pt>
                <c:pt idx="94">
                  <c:v>153553</c:v>
                </c:pt>
                <c:pt idx="95">
                  <c:v>155464</c:v>
                </c:pt>
                <c:pt idx="96">
                  <c:v>157077</c:v>
                </c:pt>
                <c:pt idx="97">
                  <c:v>159055</c:v>
                </c:pt>
                <c:pt idx="98">
                  <c:v>160870</c:v>
                </c:pt>
                <c:pt idx="99">
                  <c:v>162649</c:v>
                </c:pt>
                <c:pt idx="100">
                  <c:v>164325</c:v>
                </c:pt>
                <c:pt idx="101">
                  <c:v>165987</c:v>
                </c:pt>
                <c:pt idx="102">
                  <c:v>167762</c:v>
                </c:pt>
                <c:pt idx="103">
                  <c:v>169467</c:v>
                </c:pt>
                <c:pt idx="104">
                  <c:v>171366</c:v>
                </c:pt>
                <c:pt idx="105">
                  <c:v>173296</c:v>
                </c:pt>
                <c:pt idx="106">
                  <c:v>175168</c:v>
                </c:pt>
                <c:pt idx="107">
                  <c:v>176778</c:v>
                </c:pt>
                <c:pt idx="108">
                  <c:v>178865</c:v>
                </c:pt>
                <c:pt idx="109">
                  <c:v>180873</c:v>
                </c:pt>
                <c:pt idx="110">
                  <c:v>182735</c:v>
                </c:pt>
                <c:pt idx="111">
                  <c:v>184635</c:v>
                </c:pt>
                <c:pt idx="112">
                  <c:v>186597</c:v>
                </c:pt>
                <c:pt idx="113">
                  <c:v>188563</c:v>
                </c:pt>
                <c:pt idx="114">
                  <c:v>190653</c:v>
                </c:pt>
                <c:pt idx="115">
                  <c:v>192641</c:v>
                </c:pt>
                <c:pt idx="116">
                  <c:v>194152</c:v>
                </c:pt>
                <c:pt idx="117">
                  <c:v>196066</c:v>
                </c:pt>
                <c:pt idx="118">
                  <c:v>198037</c:v>
                </c:pt>
                <c:pt idx="119">
                  <c:v>199991</c:v>
                </c:pt>
              </c:numCache>
            </c:numRef>
          </c:val>
          <c:smooth val="0"/>
        </c:ser>
        <c:ser>
          <c:idx val="1"/>
          <c:order val="1"/>
          <c:tx>
            <c:strRef>
              <c:f>Sheet1!$C$1</c:f>
              <c:strCache>
                <c:ptCount val="1"/>
                <c:pt idx="0">
                  <c:v>SuMSy</c:v>
                </c:pt>
              </c:strCache>
            </c:strRef>
          </c:tx>
          <c:spPr>
            <a:solidFill>
              <a:srgbClr val="2A7F62"/>
            </a:solidFill>
            <a:ln w="38100" cap="flat">
              <a:solidFill>
                <a:srgbClr val="2A7F6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F62"/>
              </a:solidFill>
              <a:ln w="9525" cap="flat">
                <a:solidFill>
                  <a:srgbClr val="2A7F62"/>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Sheet1!$C$2:$C$121</c:f>
              <c:numCache>
                <c:formatCode>General</c:formatCode>
                <c:ptCount val="120"/>
                <c:pt idx="0">
                  <c:v>1806</c:v>
                </c:pt>
                <c:pt idx="1">
                  <c:v>3395</c:v>
                </c:pt>
                <c:pt idx="2">
                  <c:v>4718</c:v>
                </c:pt>
                <c:pt idx="3">
                  <c:v>4790</c:v>
                </c:pt>
                <c:pt idx="4">
                  <c:v>4836</c:v>
                </c:pt>
                <c:pt idx="5">
                  <c:v>4837</c:v>
                </c:pt>
                <c:pt idx="6">
                  <c:v>4832</c:v>
                </c:pt>
                <c:pt idx="7">
                  <c:v>4759</c:v>
                </c:pt>
                <c:pt idx="8">
                  <c:v>4651</c:v>
                </c:pt>
                <c:pt idx="9">
                  <c:v>4511</c:v>
                </c:pt>
                <c:pt idx="10">
                  <c:v>4352</c:v>
                </c:pt>
                <c:pt idx="11">
                  <c:v>4133</c:v>
                </c:pt>
                <c:pt idx="12">
                  <c:v>3892</c:v>
                </c:pt>
                <c:pt idx="13">
                  <c:v>3649</c:v>
                </c:pt>
                <c:pt idx="14">
                  <c:v>3406</c:v>
                </c:pt>
                <c:pt idx="15">
                  <c:v>3164</c:v>
                </c:pt>
                <c:pt idx="16">
                  <c:v>2921</c:v>
                </c:pt>
                <c:pt idx="17">
                  <c:v>2678</c:v>
                </c:pt>
                <c:pt idx="18">
                  <c:v>2435</c:v>
                </c:pt>
                <c:pt idx="19">
                  <c:v>2193</c:v>
                </c:pt>
                <c:pt idx="20">
                  <c:v>1950</c:v>
                </c:pt>
                <c:pt idx="21">
                  <c:v>1707</c:v>
                </c:pt>
                <c:pt idx="22">
                  <c:v>1465</c:v>
                </c:pt>
                <c:pt idx="23">
                  <c:v>1222</c:v>
                </c:pt>
                <c:pt idx="24">
                  <c:v>979</c:v>
                </c:pt>
                <c:pt idx="25">
                  <c:v>737</c:v>
                </c:pt>
                <c:pt idx="26">
                  <c:v>514</c:v>
                </c:pt>
                <c:pt idx="27">
                  <c:v>333</c:v>
                </c:pt>
                <c:pt idx="28">
                  <c:v>197</c:v>
                </c:pt>
                <c:pt idx="29">
                  <c:v>94</c:v>
                </c:pt>
                <c:pt idx="30">
                  <c:v>24</c:v>
                </c:pt>
                <c:pt idx="31">
                  <c:v>1</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857C"/>
                    </a:solidFill>
                    <a:latin typeface="Arial"/>
                  </a:defRPr>
                </a:pPr>
                <a:r>
                  <a:rPr sz="1000" b="0" i="0" u="none" strike="noStrike">
                    <a:solidFill>
                      <a:srgbClr val="8A857C"/>
                    </a:solidFill>
                    <a:latin typeface="Arial"/>
                  </a:rPr>
                  <a:t>year</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DED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SuMSy</c:v>
                </c:pt>
              </c:strCache>
            </c:strRef>
          </c:tx>
          <c:spPr>
            <a:solidFill>
              <a:srgbClr val="2A7F62"/>
            </a:solidFill>
            <a:ln w="38100" cap="flat">
              <a:solidFill>
                <a:srgbClr val="2A7F6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F62"/>
              </a:solidFill>
              <a:ln w="9525" cap="flat">
                <a:solidFill>
                  <a:srgbClr val="2A7F62"/>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Sheet1!$B$2:$B$121</c:f>
              <c:numCache>
                <c:formatCode>General</c:formatCode>
                <c:ptCount val="120"/>
                <c:pt idx="0">
                  <c:v>1806</c:v>
                </c:pt>
                <c:pt idx="1">
                  <c:v>3395</c:v>
                </c:pt>
                <c:pt idx="2">
                  <c:v>4718</c:v>
                </c:pt>
                <c:pt idx="3">
                  <c:v>4790</c:v>
                </c:pt>
                <c:pt idx="4">
                  <c:v>4836</c:v>
                </c:pt>
                <c:pt idx="5">
                  <c:v>4837</c:v>
                </c:pt>
                <c:pt idx="6">
                  <c:v>4832</c:v>
                </c:pt>
                <c:pt idx="7">
                  <c:v>4759</c:v>
                </c:pt>
                <c:pt idx="8">
                  <c:v>4651</c:v>
                </c:pt>
                <c:pt idx="9">
                  <c:v>4511</c:v>
                </c:pt>
                <c:pt idx="10">
                  <c:v>4352</c:v>
                </c:pt>
                <c:pt idx="11">
                  <c:v>4133</c:v>
                </c:pt>
                <c:pt idx="12">
                  <c:v>3892</c:v>
                </c:pt>
                <c:pt idx="13">
                  <c:v>3649</c:v>
                </c:pt>
                <c:pt idx="14">
                  <c:v>3406</c:v>
                </c:pt>
                <c:pt idx="15">
                  <c:v>3164</c:v>
                </c:pt>
                <c:pt idx="16">
                  <c:v>2921</c:v>
                </c:pt>
                <c:pt idx="17">
                  <c:v>2678</c:v>
                </c:pt>
                <c:pt idx="18">
                  <c:v>2435</c:v>
                </c:pt>
                <c:pt idx="19">
                  <c:v>2193</c:v>
                </c:pt>
                <c:pt idx="20">
                  <c:v>1950</c:v>
                </c:pt>
                <c:pt idx="21">
                  <c:v>1707</c:v>
                </c:pt>
                <c:pt idx="22">
                  <c:v>1465</c:v>
                </c:pt>
                <c:pt idx="23">
                  <c:v>1222</c:v>
                </c:pt>
                <c:pt idx="24">
                  <c:v>979</c:v>
                </c:pt>
                <c:pt idx="25">
                  <c:v>737</c:v>
                </c:pt>
                <c:pt idx="26">
                  <c:v>514</c:v>
                </c:pt>
                <c:pt idx="27">
                  <c:v>333</c:v>
                </c:pt>
                <c:pt idx="28">
                  <c:v>197</c:v>
                </c:pt>
                <c:pt idx="29">
                  <c:v>94</c:v>
                </c:pt>
                <c:pt idx="30">
                  <c:v>24</c:v>
                </c:pt>
                <c:pt idx="31">
                  <c:v>1</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857C"/>
                    </a:solidFill>
                    <a:latin typeface="Arial"/>
                  </a:defRPr>
                </a:pPr>
                <a:r>
                  <a:rPr sz="1000" b="0" i="0" u="none" strike="noStrike">
                    <a:solidFill>
                      <a:srgbClr val="8A857C"/>
                    </a:solidFill>
                    <a:latin typeface="Arial"/>
                  </a:rPr>
                  <a:t>year</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DED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money</c:v>
                </c:pt>
              </c:strCache>
            </c:strRef>
          </c:tx>
          <c:spPr>
            <a:solidFill>
              <a:srgbClr val="B8541C"/>
            </a:solidFill>
            <a:effectLst/>
          </c:spPr>
          <c:invertIfNegative val="0"/>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cat>
            <c:multiLvlStrRef>
              <c:f>Sheet1!$A$2:$A$4</c:f>
              <c:multiLvlStrCache>
                <c:ptCount val="3"/>
                <c:lvl>
                  <c:pt idx="0">
                    <c:v>Shares, no land fee</c:v>
                  </c:pt>
                  <c:pt idx="1">
                    <c:v>Shares, land fee</c:v>
                  </c:pt>
                  <c:pt idx="2">
                    <c:v>Co-ops</c:v>
                  </c:pt>
                </c:lvl>
              </c:multiLvlStrCache>
            </c:multiLvlStrRef>
          </c:cat>
          <c:val>
            <c:numRef>
              <c:f>Sheet1!$B$2:$B$4</c:f>
              <c:numCache>
                <c:formatCode>General</c:formatCode>
                <c:ptCount val="3"/>
                <c:pt idx="0">
                  <c:v>496</c:v>
                </c:pt>
                <c:pt idx="1">
                  <c:v>570</c:v>
                </c:pt>
                <c:pt idx="2">
                  <c:v>468</c:v>
                </c:pt>
              </c:numCache>
            </c:numRef>
          </c:val>
        </c:ser>
        <c:ser>
          <c:idx val="1"/>
          <c:order val="1"/>
          <c:tx>
            <c:strRef>
              <c:f>Sheet1!$C$1</c:f>
              <c:strCache>
                <c:ptCount val="1"/>
                <c:pt idx="0">
                  <c:v>SuMSy</c:v>
                </c:pt>
              </c:strCache>
            </c:strRef>
          </c:tx>
          <c:spPr>
            <a:solidFill>
              <a:srgbClr val="2A7F62"/>
            </a:solidFill>
            <a:effectLst/>
          </c:spPr>
          <c:invertIfNegative val="0"/>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cat>
            <c:multiLvlStrRef>
              <c:f>Sheet1!$A$2:$A$4</c:f>
              <c:multiLvlStrCache>
                <c:ptCount val="3"/>
                <c:lvl>
                  <c:pt idx="0">
                    <c:v>Shares, no land fee</c:v>
                  </c:pt>
                  <c:pt idx="1">
                    <c:v>Shares, land fee</c:v>
                  </c:pt>
                  <c:pt idx="2">
                    <c:v>Co-ops</c:v>
                  </c:pt>
                </c:lvl>
              </c:multiLvlStrCache>
            </c:multiLvlStrRef>
          </c:cat>
          <c:val>
            <c:numRef>
              <c:f>Sheet1!$C$2:$C$4</c:f>
              <c:numCache>
                <c:formatCode>General</c:formatCode>
                <c:ptCount val="3"/>
                <c:pt idx="0">
                  <c:v>9997</c:v>
                </c:pt>
                <c:pt idx="1">
                  <c:v>242</c:v>
                </c:pt>
                <c:pt idx="2">
                  <c:v>166</c:v>
                </c:pt>
              </c:numCache>
            </c:numRef>
          </c:val>
        </c:ser>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D1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village of 512 people. Fields, bakeries, theatres, two banks. Everyone needs two loaves a month; three months without bread, and you die. Now imagine I build it twice, identical, and change one thing: where the money comes from. Then I run each village for ten years, ten times over, and count who still has bread.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first village money is what it is for us: it is born when a bank makes a loan, and every coin in your pocket is a coin someone else owes. In the second, everyone receives a fixed income every month — five units — and money that sits idle above a small cushion pays a parking fee: two percent a month simply disappears. Nobody owes anyone for it. That's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don't switch everything on at once. Bare fields first. Then a government. A theatre. A stock market. Cooperatives. Taxes. One rung at a time, both villages, same rung, and at every rung: who is alive, what does bread cost, what does the government owe.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Bare fields, no government. In the debt village, fourteen people are left after ten years. There is no work for most of them, without work no money, without money no bread. In the SuMSy village almost everyone lives: five units a month is a meal. Same fields, same bakers. Only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 government: public jobs and a bread allowance for the unemployed. Now almost everyone lives — and the government borrows half of what it spends, every month, for ten years, and never repays. Balance the books by taxing, and two hundred of five hundred and twelve are left. The debt village lives *because* its government goes into debt. And it can never get out: in that village, every coin in circulation is someone's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does — once. While the new money is still filling up the village, the parking tax brings in little, and the SuMSy government borrows its citizens' savings: about a month of guaranteed income per villager, at its worst in month six. Then it pays every unit back, by month thirty-three, in every run. A startup cost. One village repays; the other cannot. And from that step on, nobody in the SuMSy village is out of work — not one person, in ten years, in any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firms get owners, and shares that trade. Money in the SuMSy village had been spread almost evenly. With shares the gap between the richest tenth and the poorest tenth more than triples — from about 23 meals to 78. It stays far below the debt village's, where the gap is over 200 meals. So the money system does a lot, but ownership is the other half of the story. Cooperatives take the SuMSy gap back down to about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In the debt village a plot sells for thirty years of rent. In the SuMSy village, nobody sells — because money melts and land doesn't, so land becomes the thing to hold, and the rare sale goes for a fortune: seven hundred years of rent. Silvio Gesell saw this a century ago. The fix is a fee on land, paid out to everyone as a dividend: then land trades again, at four years of rent, the dividend is larger than the income itself, and the poorest tenth of the village hold sixteen meals instead of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did something unkind: I made everyone greedy. Spend every surplus, forever. The SuMSy village dies — fifty-seven left on average, nobody in the worst run. Not through land this time: through bread. Everyone has money to spare, so the bread sells out; the bakeries bid for more grain than the land can grow; grain doubles, then doubles again; the bakeries' prices chase it at forty percent a year and never catch it; their bills go unpaid, and they are wound up one by one until the last one's closing starves the village. No rule saves it: let prices rise faster and it dies faster. The debt village under the same greed keeps five hundred and ten — its greedy have no spare money, and its prices stop where their money does. That is what a stress test is for: a village where everyone can always pay has nothing to ration bread with but hunger.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years, ten runs, twelve rungs. What it takes to survive: in the debt village, a government willing to be permanently in debt, and a third of the village without work at every step. In the SuMSy village, an income everyone gets, a fee on idle money that pays for the state, a fee on land paid out as a dividend — and a labour market that shares the work, or the income alone leaves people behind. In both: taxes that stay off bread — the one tax that killed the village was the tax on bread. And the open question I can't answer yet: what happens in the ten years when you switch from one money to the other. That's the next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a rule I chose, and every number comes from a run you can repeat: the code, the village and the report are public. I built one village and broke it a hundred ways. The question I'd leave you with isn't which money is better. It's this: every rule of money is a choice someone made. Which of them would you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1D1A"/>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it takes to survive</a:t>
            </a:r>
            <a:endParaRPr lang="en-US" sz="4000" dirty="0"/>
          </a:p>
        </p:txBody>
      </p:sp>
      <p:pic>
        <p:nvPicPr>
          <p:cNvPr id="3" name="Image 0" descr="preencoded.png">    </p:cNvPr>
          <p:cNvPicPr>
            <a:picLocks noChangeAspect="1"/>
          </p:cNvPicPr>
          <p:nvPr/>
        </p:nvPicPr>
        <p:blipFill>
          <a:blip r:embed="rId1"/>
          <a:stretch>
            <a:fillRect/>
          </a:stretch>
        </p:blipFill>
        <p:spPr>
          <a:xfrm>
            <a:off x="457200" y="1508760"/>
            <a:ext cx="3931920" cy="1965960"/>
          </a:xfrm>
          <a:prstGeom prst="rect">
            <a:avLst/>
          </a:prstGeom>
        </p:spPr>
      </p:pic>
      <p:pic>
        <p:nvPicPr>
          <p:cNvPr id="4" name="Image 1" descr="preencoded.png">    </p:cNvPr>
          <p:cNvPicPr>
            <a:picLocks noChangeAspect="1"/>
          </p:cNvPicPr>
          <p:nvPr/>
        </p:nvPicPr>
        <p:blipFill>
          <a:blip r:embed="rId2"/>
          <a:stretch>
            <a:fillRect/>
          </a:stretch>
        </p:blipFill>
        <p:spPr>
          <a:xfrm>
            <a:off x="4754880" y="1508760"/>
            <a:ext cx="3931920" cy="1965960"/>
          </a:xfrm>
          <a:prstGeom prst="rect">
            <a:avLst/>
          </a:prstGeom>
        </p:spPr>
      </p:pic>
      <p:sp>
        <p:nvSpPr>
          <p:cNvPr id="5" name="Text 1"/>
          <p:cNvSpPr txBox="1"/>
          <p:nvPr/>
        </p:nvSpPr>
        <p:spPr>
          <a:xfrm>
            <a:off x="457200" y="3703320"/>
            <a:ext cx="3931920" cy="457200"/>
          </a:xfrm>
          <a:prstGeom prst="rect">
            <a:avLst/>
          </a:prstGeom>
          <a:noFill/>
          <a:ln/>
        </p:spPr>
        <p:txBody>
          <a:bodyPr wrap="square" lIns="0" tIns="0" rIns="0" bIns="0" rtlCol="0" anchor="ctr"/>
          <a:lstStyle/>
          <a:p>
            <a:pPr algn="ctr" indent="0" marL="0">
              <a:buNone/>
            </a:pPr>
            <a:r>
              <a:rPr lang="en-US" sz="2200" b="1" spc="400" kern="0" dirty="0">
                <a:solidFill>
                  <a:srgbClr val="B8541C"/>
                </a:solidFill>
                <a:latin typeface="Calibri" pitchFamily="34" charset="0"/>
                <a:ea typeface="Calibri" pitchFamily="34" charset="-122"/>
                <a:cs typeface="Calibri" pitchFamily="34" charset="-120"/>
              </a:rPr>
              <a:t>DEBT</a:t>
            </a:r>
            <a:endParaRPr lang="en-US" sz="2200" dirty="0"/>
          </a:p>
        </p:txBody>
      </p:sp>
      <p:sp>
        <p:nvSpPr>
          <p:cNvPr id="6" name="Text 2"/>
          <p:cNvSpPr txBox="1"/>
          <p:nvPr/>
        </p:nvSpPr>
        <p:spPr>
          <a:xfrm>
            <a:off x="4754880" y="3703320"/>
            <a:ext cx="3931920" cy="457200"/>
          </a:xfrm>
          <a:prstGeom prst="rect">
            <a:avLst/>
          </a:prstGeom>
          <a:noFill/>
          <a:ln/>
        </p:spPr>
        <p:txBody>
          <a:bodyPr wrap="square" lIns="0" tIns="0" rIns="0" bIns="0" rtlCol="0" anchor="ctr"/>
          <a:lstStyle/>
          <a:p>
            <a:pPr algn="ctr" indent="0" marL="0">
              <a:buNone/>
            </a:pPr>
            <a:r>
              <a:rPr lang="en-US" sz="2200" b="1" spc="400" kern="0" dirty="0">
                <a:solidFill>
                  <a:srgbClr val="2A7F62"/>
                </a:solidFill>
                <a:latin typeface="Calibri" pitchFamily="34" charset="0"/>
                <a:ea typeface="Calibri" pitchFamily="34" charset="-122"/>
                <a:cs typeface="Calibri" pitchFamily="34" charset="-120"/>
              </a:rPr>
              <a:t>SUMSY</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88720" y="822960"/>
            <a:ext cx="1463040" cy="1463040"/>
          </a:xfrm>
          <a:prstGeom prst="rect">
            <a:avLst/>
          </a:prstGeom>
        </p:spPr>
      </p:pic>
      <p:pic>
        <p:nvPicPr>
          <p:cNvPr id="3" name="Image 1" descr="preencoded.png">    </p:cNvPr>
          <p:cNvPicPr>
            <a:picLocks noChangeAspect="1"/>
          </p:cNvPicPr>
          <p:nvPr/>
        </p:nvPicPr>
        <p:blipFill>
          <a:blip r:embed="rId2"/>
          <a:stretch>
            <a:fillRect/>
          </a:stretch>
        </p:blipFill>
        <p:spPr>
          <a:xfrm>
            <a:off x="2651760" y="1554480"/>
            <a:ext cx="914400" cy="914400"/>
          </a:xfrm>
          <a:prstGeom prst="rect">
            <a:avLst/>
          </a:prstGeom>
        </p:spPr>
      </p:pic>
      <p:pic>
        <p:nvPicPr>
          <p:cNvPr id="4" name="Image 2" descr="preencoded.png">    </p:cNvPr>
          <p:cNvPicPr>
            <a:picLocks noChangeAspect="1"/>
          </p:cNvPicPr>
          <p:nvPr/>
        </p:nvPicPr>
        <p:blipFill>
          <a:blip r:embed="rId3"/>
          <a:stretch>
            <a:fillRect/>
          </a:stretch>
        </p:blipFill>
        <p:spPr>
          <a:xfrm>
            <a:off x="5303520" y="822960"/>
            <a:ext cx="1463040" cy="1463040"/>
          </a:xfrm>
          <a:prstGeom prst="rect">
            <a:avLst/>
          </a:prstGeom>
        </p:spPr>
      </p:pic>
      <p:pic>
        <p:nvPicPr>
          <p:cNvPr id="5" name="Image 3" descr="preencoded.png">    </p:cNvPr>
          <p:cNvPicPr>
            <a:picLocks noChangeAspect="1"/>
          </p:cNvPicPr>
          <p:nvPr/>
        </p:nvPicPr>
        <p:blipFill>
          <a:blip r:embed="rId4"/>
          <a:stretch>
            <a:fillRect/>
          </a:stretch>
        </p:blipFill>
        <p:spPr>
          <a:xfrm>
            <a:off x="6766560" y="1554480"/>
            <a:ext cx="914400" cy="914400"/>
          </a:xfrm>
          <a:prstGeom prst="rect">
            <a:avLst/>
          </a:prstGeom>
        </p:spPr>
      </p:pic>
      <p:sp>
        <p:nvSpPr>
          <p:cNvPr id="6" name="Text 0"/>
          <p:cNvSpPr txBox="1"/>
          <p:nvPr/>
        </p:nvSpPr>
        <p:spPr>
          <a:xfrm>
            <a:off x="548640" y="2926080"/>
            <a:ext cx="3840480" cy="640080"/>
          </a:xfrm>
          <a:prstGeom prst="rect">
            <a:avLst/>
          </a:prstGeom>
          <a:noFill/>
          <a:ln/>
        </p:spPr>
        <p:txBody>
          <a:bodyPr wrap="square" lIns="0" tIns="0" rIns="0" bIns="0" rtlCol="0" anchor="ctr"/>
          <a:lstStyle/>
          <a:p>
            <a:pPr algn="ctr" indent="0" marL="0">
              <a:buNone/>
            </a:pPr>
            <a:r>
              <a:rPr lang="en-US" sz="2800" b="1" dirty="0">
                <a:solidFill>
                  <a:srgbClr val="B8541C"/>
                </a:solidFill>
                <a:latin typeface="Cambria" pitchFamily="34" charset="0"/>
                <a:ea typeface="Cambria" pitchFamily="34" charset="-122"/>
                <a:cs typeface="Cambria" pitchFamily="34" charset="-120"/>
              </a:rPr>
              <a:t>Borrowed into being</a:t>
            </a:r>
            <a:endParaRPr lang="en-US" sz="2800" dirty="0"/>
          </a:p>
        </p:txBody>
      </p:sp>
      <p:sp>
        <p:nvSpPr>
          <p:cNvPr id="7" name="Text 1"/>
          <p:cNvSpPr txBox="1"/>
          <p:nvPr/>
        </p:nvSpPr>
        <p:spPr>
          <a:xfrm>
            <a:off x="4754880" y="2926080"/>
            <a:ext cx="3840480" cy="640080"/>
          </a:xfrm>
          <a:prstGeom prst="rect">
            <a:avLst/>
          </a:prstGeom>
          <a:noFill/>
          <a:ln/>
        </p:spPr>
        <p:txBody>
          <a:bodyPr wrap="square" lIns="0" tIns="0" rIns="0" bIns="0" rtlCol="0" anchor="ctr"/>
          <a:lstStyle/>
          <a:p>
            <a:pPr algn="ctr" indent="0" marL="0">
              <a:buNone/>
            </a:pPr>
            <a:r>
              <a:rPr lang="en-US" sz="2800" b="1" dirty="0">
                <a:solidFill>
                  <a:srgbClr val="2A7F62"/>
                </a:solidFill>
                <a:latin typeface="Cambria" pitchFamily="34" charset="0"/>
                <a:ea typeface="Cambria" pitchFamily="34" charset="-122"/>
                <a:cs typeface="Cambria" pitchFamily="34" charset="-120"/>
              </a:rPr>
              <a:t>Paid to everyone</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14400" y="365760"/>
            <a:ext cx="73152" cy="4434840"/>
          </a:xfrm>
          <a:prstGeom prst="rect">
            <a:avLst/>
          </a:prstGeom>
          <a:solidFill>
            <a:srgbClr val="CFC8BB"/>
          </a:solidFill>
          <a:ln w="12700">
            <a:solidFill>
              <a:srgbClr val="CFC8BB"/>
            </a:solidFill>
            <a:prstDash val="solid"/>
          </a:ln>
        </p:spPr>
      </p:sp>
      <p:sp>
        <p:nvSpPr>
          <p:cNvPr id="3" name="Shape 1"/>
          <p:cNvSpPr/>
          <p:nvPr/>
        </p:nvSpPr>
        <p:spPr>
          <a:xfrm>
            <a:off x="2103120" y="365760"/>
            <a:ext cx="73152" cy="4434840"/>
          </a:xfrm>
          <a:prstGeom prst="rect">
            <a:avLst/>
          </a:prstGeom>
          <a:solidFill>
            <a:srgbClr val="CFC8BB"/>
          </a:solidFill>
          <a:ln w="12700">
            <a:solidFill>
              <a:srgbClr val="CFC8BB"/>
            </a:solidFill>
            <a:prstDash val="solid"/>
          </a:ln>
        </p:spPr>
      </p:sp>
      <p:sp>
        <p:nvSpPr>
          <p:cNvPr id="4" name="Shape 2"/>
          <p:cNvSpPr/>
          <p:nvPr/>
        </p:nvSpPr>
        <p:spPr>
          <a:xfrm>
            <a:off x="914400" y="4403408"/>
            <a:ext cx="1261872" cy="54864"/>
          </a:xfrm>
          <a:prstGeom prst="rect">
            <a:avLst/>
          </a:prstGeom>
          <a:solidFill>
            <a:srgbClr val="CFC8BB"/>
          </a:solidFill>
          <a:ln w="12700">
            <a:solidFill>
              <a:srgbClr val="CFC8BB"/>
            </a:solidFill>
            <a:prstDash val="solid"/>
          </a:ln>
        </p:spPr>
      </p:sp>
      <p:pic>
        <p:nvPicPr>
          <p:cNvPr id="5" name="Image 0" descr="preencoded.png">    </p:cNvPr>
          <p:cNvPicPr>
            <a:picLocks noChangeAspect="1"/>
          </p:cNvPicPr>
          <p:nvPr/>
        </p:nvPicPr>
        <p:blipFill>
          <a:blip r:embed="rId1"/>
          <a:stretch>
            <a:fillRect/>
          </a:stretch>
        </p:blipFill>
        <p:spPr>
          <a:xfrm>
            <a:off x="2514600" y="4220528"/>
            <a:ext cx="384048" cy="384048"/>
          </a:xfrm>
          <a:prstGeom prst="rect">
            <a:avLst/>
          </a:prstGeom>
        </p:spPr>
      </p:pic>
      <p:sp>
        <p:nvSpPr>
          <p:cNvPr id="6" name="Shape 3"/>
          <p:cNvSpPr/>
          <p:nvPr/>
        </p:nvSpPr>
        <p:spPr>
          <a:xfrm>
            <a:off x="914400" y="3883342"/>
            <a:ext cx="1261872" cy="54864"/>
          </a:xfrm>
          <a:prstGeom prst="rect">
            <a:avLst/>
          </a:prstGeom>
          <a:solidFill>
            <a:srgbClr val="CFC8BB"/>
          </a:solidFill>
          <a:ln w="12700">
            <a:solidFill>
              <a:srgbClr val="CFC8BB"/>
            </a:solidFill>
            <a:prstDash val="solid"/>
          </a:ln>
        </p:spPr>
      </p:sp>
      <p:pic>
        <p:nvPicPr>
          <p:cNvPr id="7" name="Image 1" descr="preencoded.png">    </p:cNvPr>
          <p:cNvPicPr>
            <a:picLocks noChangeAspect="1"/>
          </p:cNvPicPr>
          <p:nvPr/>
        </p:nvPicPr>
        <p:blipFill>
          <a:blip r:embed="rId2"/>
          <a:stretch>
            <a:fillRect/>
          </a:stretch>
        </p:blipFill>
        <p:spPr>
          <a:xfrm>
            <a:off x="2514600" y="3700462"/>
            <a:ext cx="384048" cy="384048"/>
          </a:xfrm>
          <a:prstGeom prst="rect">
            <a:avLst/>
          </a:prstGeom>
        </p:spPr>
      </p:pic>
      <p:sp>
        <p:nvSpPr>
          <p:cNvPr id="8" name="Shape 4"/>
          <p:cNvSpPr/>
          <p:nvPr/>
        </p:nvSpPr>
        <p:spPr>
          <a:xfrm>
            <a:off x="914400" y="3363277"/>
            <a:ext cx="1261872" cy="54864"/>
          </a:xfrm>
          <a:prstGeom prst="rect">
            <a:avLst/>
          </a:prstGeom>
          <a:solidFill>
            <a:srgbClr val="CFC8BB"/>
          </a:solidFill>
          <a:ln w="12700">
            <a:solidFill>
              <a:srgbClr val="CFC8BB"/>
            </a:solidFill>
            <a:prstDash val="solid"/>
          </a:ln>
        </p:spPr>
      </p:sp>
      <p:pic>
        <p:nvPicPr>
          <p:cNvPr id="9" name="Image 2" descr="preencoded.png">    </p:cNvPr>
          <p:cNvPicPr>
            <a:picLocks noChangeAspect="1"/>
          </p:cNvPicPr>
          <p:nvPr/>
        </p:nvPicPr>
        <p:blipFill>
          <a:blip r:embed="rId3"/>
          <a:stretch>
            <a:fillRect/>
          </a:stretch>
        </p:blipFill>
        <p:spPr>
          <a:xfrm>
            <a:off x="2514600" y="3180397"/>
            <a:ext cx="384048" cy="384048"/>
          </a:xfrm>
          <a:prstGeom prst="rect">
            <a:avLst/>
          </a:prstGeom>
        </p:spPr>
      </p:pic>
      <p:sp>
        <p:nvSpPr>
          <p:cNvPr id="10" name="Shape 5"/>
          <p:cNvSpPr/>
          <p:nvPr/>
        </p:nvSpPr>
        <p:spPr>
          <a:xfrm>
            <a:off x="914400" y="2843213"/>
            <a:ext cx="1261872" cy="54864"/>
          </a:xfrm>
          <a:prstGeom prst="rect">
            <a:avLst/>
          </a:prstGeom>
          <a:solidFill>
            <a:srgbClr val="CFC8BB"/>
          </a:solidFill>
          <a:ln w="12700">
            <a:solidFill>
              <a:srgbClr val="CFC8BB"/>
            </a:solidFill>
            <a:prstDash val="solid"/>
          </a:ln>
        </p:spPr>
      </p:sp>
      <p:pic>
        <p:nvPicPr>
          <p:cNvPr id="11" name="Image 3" descr="preencoded.png">    </p:cNvPr>
          <p:cNvPicPr>
            <a:picLocks noChangeAspect="1"/>
          </p:cNvPicPr>
          <p:nvPr/>
        </p:nvPicPr>
        <p:blipFill>
          <a:blip r:embed="rId4"/>
          <a:stretch>
            <a:fillRect/>
          </a:stretch>
        </p:blipFill>
        <p:spPr>
          <a:xfrm>
            <a:off x="2514600" y="2660333"/>
            <a:ext cx="384048" cy="384048"/>
          </a:xfrm>
          <a:prstGeom prst="rect">
            <a:avLst/>
          </a:prstGeom>
        </p:spPr>
      </p:pic>
      <p:sp>
        <p:nvSpPr>
          <p:cNvPr id="12" name="Shape 6"/>
          <p:cNvSpPr/>
          <p:nvPr/>
        </p:nvSpPr>
        <p:spPr>
          <a:xfrm>
            <a:off x="914400" y="2323148"/>
            <a:ext cx="1261872" cy="54864"/>
          </a:xfrm>
          <a:prstGeom prst="rect">
            <a:avLst/>
          </a:prstGeom>
          <a:solidFill>
            <a:srgbClr val="CFC8BB"/>
          </a:solidFill>
          <a:ln w="12700">
            <a:solidFill>
              <a:srgbClr val="CFC8BB"/>
            </a:solidFill>
            <a:prstDash val="solid"/>
          </a:ln>
        </p:spPr>
      </p:sp>
      <p:pic>
        <p:nvPicPr>
          <p:cNvPr id="13" name="Image 4" descr="preencoded.png">    </p:cNvPr>
          <p:cNvPicPr>
            <a:picLocks noChangeAspect="1"/>
          </p:cNvPicPr>
          <p:nvPr/>
        </p:nvPicPr>
        <p:blipFill>
          <a:blip r:embed="rId5"/>
          <a:stretch>
            <a:fillRect/>
          </a:stretch>
        </p:blipFill>
        <p:spPr>
          <a:xfrm>
            <a:off x="2514600" y="2140267"/>
            <a:ext cx="384048" cy="384048"/>
          </a:xfrm>
          <a:prstGeom prst="rect">
            <a:avLst/>
          </a:prstGeom>
        </p:spPr>
      </p:pic>
      <p:sp>
        <p:nvSpPr>
          <p:cNvPr id="14" name="Shape 7"/>
          <p:cNvSpPr/>
          <p:nvPr/>
        </p:nvSpPr>
        <p:spPr>
          <a:xfrm>
            <a:off x="914400" y="1803082"/>
            <a:ext cx="1261872" cy="54864"/>
          </a:xfrm>
          <a:prstGeom prst="rect">
            <a:avLst/>
          </a:prstGeom>
          <a:solidFill>
            <a:srgbClr val="CFC8BB"/>
          </a:solidFill>
          <a:ln w="12700">
            <a:solidFill>
              <a:srgbClr val="CFC8BB"/>
            </a:solidFill>
            <a:prstDash val="solid"/>
          </a:ln>
        </p:spPr>
      </p:sp>
      <p:pic>
        <p:nvPicPr>
          <p:cNvPr id="15" name="Image 5" descr="preencoded.png">    </p:cNvPr>
          <p:cNvPicPr>
            <a:picLocks noChangeAspect="1"/>
          </p:cNvPicPr>
          <p:nvPr/>
        </p:nvPicPr>
        <p:blipFill>
          <a:blip r:embed="rId6"/>
          <a:stretch>
            <a:fillRect/>
          </a:stretch>
        </p:blipFill>
        <p:spPr>
          <a:xfrm>
            <a:off x="2514600" y="1620202"/>
            <a:ext cx="384048" cy="384048"/>
          </a:xfrm>
          <a:prstGeom prst="rect">
            <a:avLst/>
          </a:prstGeom>
        </p:spPr>
      </p:pic>
      <p:sp>
        <p:nvSpPr>
          <p:cNvPr id="16" name="Shape 8"/>
          <p:cNvSpPr/>
          <p:nvPr/>
        </p:nvSpPr>
        <p:spPr>
          <a:xfrm>
            <a:off x="914400" y="1283017"/>
            <a:ext cx="1261872" cy="54864"/>
          </a:xfrm>
          <a:prstGeom prst="rect">
            <a:avLst/>
          </a:prstGeom>
          <a:solidFill>
            <a:srgbClr val="CFC8BB"/>
          </a:solidFill>
          <a:ln w="12700">
            <a:solidFill>
              <a:srgbClr val="CFC8BB"/>
            </a:solidFill>
            <a:prstDash val="solid"/>
          </a:ln>
        </p:spPr>
      </p:sp>
      <p:pic>
        <p:nvPicPr>
          <p:cNvPr id="17" name="Image 6" descr="preencoded.png">    </p:cNvPr>
          <p:cNvPicPr>
            <a:picLocks noChangeAspect="1"/>
          </p:cNvPicPr>
          <p:nvPr/>
        </p:nvPicPr>
        <p:blipFill>
          <a:blip r:embed="rId7"/>
          <a:stretch>
            <a:fillRect/>
          </a:stretch>
        </p:blipFill>
        <p:spPr>
          <a:xfrm>
            <a:off x="2514600" y="1100137"/>
            <a:ext cx="384048" cy="384048"/>
          </a:xfrm>
          <a:prstGeom prst="rect">
            <a:avLst/>
          </a:prstGeom>
        </p:spPr>
      </p:pic>
      <p:sp>
        <p:nvSpPr>
          <p:cNvPr id="18" name="Shape 9"/>
          <p:cNvSpPr/>
          <p:nvPr/>
        </p:nvSpPr>
        <p:spPr>
          <a:xfrm>
            <a:off x="914400" y="762952"/>
            <a:ext cx="1261872" cy="54864"/>
          </a:xfrm>
          <a:prstGeom prst="rect">
            <a:avLst/>
          </a:prstGeom>
          <a:solidFill>
            <a:srgbClr val="CFC8BB"/>
          </a:solidFill>
          <a:ln w="12700">
            <a:solidFill>
              <a:srgbClr val="CFC8BB"/>
            </a:solidFill>
            <a:prstDash val="solid"/>
          </a:ln>
        </p:spPr>
      </p:sp>
      <p:pic>
        <p:nvPicPr>
          <p:cNvPr id="19" name="Image 7" descr="preencoded.png">    </p:cNvPr>
          <p:cNvPicPr>
            <a:picLocks noChangeAspect="1"/>
          </p:cNvPicPr>
          <p:nvPr/>
        </p:nvPicPr>
        <p:blipFill>
          <a:blip r:embed="rId8"/>
          <a:stretch>
            <a:fillRect/>
          </a:stretch>
        </p:blipFill>
        <p:spPr>
          <a:xfrm>
            <a:off x="2514600" y="580072"/>
            <a:ext cx="384048" cy="384048"/>
          </a:xfrm>
          <a:prstGeom prst="rect">
            <a:avLst/>
          </a:prstGeom>
        </p:spPr>
      </p:pic>
      <p:sp>
        <p:nvSpPr>
          <p:cNvPr id="20" name="Text 10"/>
          <p:cNvSpPr txBox="1"/>
          <p:nvPr/>
        </p:nvSpPr>
        <p:spPr>
          <a:xfrm>
            <a:off x="3840480" y="2103120"/>
            <a:ext cx="4846320" cy="822960"/>
          </a:xfrm>
          <a:prstGeom prst="rect">
            <a:avLst/>
          </a:prstGeom>
          <a:noFill/>
          <a:ln/>
        </p:spPr>
        <p:txBody>
          <a:bodyPr wrap="square" lIns="0" tIns="0" rIns="0" bIns="0" rtlCol="0" anchor="ctr"/>
          <a:lstStyle/>
          <a:p>
            <a:pPr indent="0" marL="0">
              <a:buNone/>
            </a:pPr>
            <a:r>
              <a:rPr lang="en-US" sz="4000" b="1" dirty="0">
                <a:solidFill>
                  <a:srgbClr val="1F1D1A"/>
                </a:solidFill>
                <a:latin typeface="Cambria" pitchFamily="34" charset="0"/>
                <a:ea typeface="Cambria" pitchFamily="34" charset="-122"/>
                <a:cs typeface="Cambria" pitchFamily="34" charset="-120"/>
              </a:rPr>
              <a:t>One rung at a time</a:t>
            </a:r>
            <a:endParaRPr lang="en-US" sz="4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No government</a:t>
            </a:r>
            <a:endParaRPr lang="en-US" sz="3600" dirty="0"/>
          </a:p>
        </p:txBody>
      </p:sp>
      <p:pic>
        <p:nvPicPr>
          <p:cNvPr id="3" name="Image 0" descr="preencoded.png">    </p:cNvPr>
          <p:cNvPicPr>
            <a:picLocks noChangeAspect="1"/>
          </p:cNvPicPr>
          <p:nvPr/>
        </p:nvPicPr>
        <p:blipFill>
          <a:blip r:embed="rId1"/>
          <a:stretch>
            <a:fillRect/>
          </a:stretch>
        </p:blipFill>
        <p:spPr>
          <a:xfrm>
            <a:off x="457200" y="1325880"/>
            <a:ext cx="3931920" cy="1965960"/>
          </a:xfrm>
          <a:prstGeom prst="rect">
            <a:avLst/>
          </a:prstGeom>
        </p:spPr>
      </p:pic>
      <p:pic>
        <p:nvPicPr>
          <p:cNvPr id="4" name="Image 1" descr="preencoded.png">    </p:cNvPr>
          <p:cNvPicPr>
            <a:picLocks noChangeAspect="1"/>
          </p:cNvPicPr>
          <p:nvPr/>
        </p:nvPicPr>
        <p:blipFill>
          <a:blip r:embed="rId2"/>
          <a:stretch>
            <a:fillRect/>
          </a:stretch>
        </p:blipFill>
        <p:spPr>
          <a:xfrm>
            <a:off x="4754880" y="1325880"/>
            <a:ext cx="3931920" cy="1965960"/>
          </a:xfrm>
          <a:prstGeom prst="rect">
            <a:avLst/>
          </a:prstGeom>
        </p:spPr>
      </p:pic>
      <p:sp>
        <p:nvSpPr>
          <p:cNvPr id="5" name="Text 1"/>
          <p:cNvSpPr txBox="1"/>
          <p:nvPr/>
        </p:nvSpPr>
        <p:spPr>
          <a:xfrm>
            <a:off x="457200" y="3520440"/>
            <a:ext cx="3931920" cy="914400"/>
          </a:xfrm>
          <a:prstGeom prst="rect">
            <a:avLst/>
          </a:prstGeom>
          <a:noFill/>
          <a:ln/>
        </p:spPr>
        <p:txBody>
          <a:bodyPr wrap="square" lIns="0" tIns="0" rIns="0" bIns="0" rtlCol="0" anchor="ctr"/>
          <a:lstStyle/>
          <a:p>
            <a:pPr indent="0" marL="0">
              <a:buNone/>
            </a:pPr>
            <a:r>
              <a:rPr lang="en-US" sz="6000" b="1" dirty="0">
                <a:solidFill>
                  <a:srgbClr val="B8541C"/>
                </a:solidFill>
                <a:latin typeface="Cambria" pitchFamily="34" charset="0"/>
                <a:ea typeface="Cambria" pitchFamily="34" charset="-122"/>
                <a:cs typeface="Cambria" pitchFamily="34" charset="-120"/>
              </a:rPr>
              <a:t>150</a:t>
            </a:r>
            <a:endParaRPr lang="en-US" sz="6000" dirty="0"/>
          </a:p>
        </p:txBody>
      </p:sp>
      <p:sp>
        <p:nvSpPr>
          <p:cNvPr id="6" name="Text 2"/>
          <p:cNvSpPr txBox="1"/>
          <p:nvPr/>
        </p:nvSpPr>
        <p:spPr>
          <a:xfrm>
            <a:off x="4754880" y="3520440"/>
            <a:ext cx="3931920" cy="914400"/>
          </a:xfrm>
          <a:prstGeom prst="rect">
            <a:avLst/>
          </a:prstGeom>
          <a:noFill/>
          <a:ln/>
        </p:spPr>
        <p:txBody>
          <a:bodyPr wrap="square" lIns="0" tIns="0" rIns="0" bIns="0" rtlCol="0" anchor="ctr"/>
          <a:lstStyle/>
          <a:p>
            <a:pPr indent="0" marL="0">
              <a:buNone/>
            </a:pPr>
            <a:r>
              <a:rPr lang="en-US" sz="6000" b="1" dirty="0">
                <a:solidFill>
                  <a:srgbClr val="2A7F62"/>
                </a:solidFill>
                <a:latin typeface="Cambria" pitchFamily="34" charset="0"/>
                <a:ea typeface="Cambria" pitchFamily="34" charset="-122"/>
                <a:cs typeface="Cambria" pitchFamily="34" charset="-120"/>
              </a:rPr>
              <a:t>458</a:t>
            </a:r>
            <a:endParaRPr lang="en-US" sz="6000" dirty="0"/>
          </a:p>
        </p:txBody>
      </p:sp>
      <p:sp>
        <p:nvSpPr>
          <p:cNvPr id="7"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Living on debt</a:t>
            </a:r>
            <a:endParaRPr lang="en-US" sz="3600" dirty="0"/>
          </a:p>
        </p:txBody>
      </p:sp>
      <p:graphicFrame>
        <p:nvGraphicFramePr>
          <p:cNvPr id="3" name="Chart 0" descr=""/>
          <p:cNvGraphicFramePr/>
          <p:nvPr/>
        </p:nvGraphicFramePr>
        <p:xfrm>
          <a:off x="457200" y="118872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0" y="1920240"/>
            <a:ext cx="2377440" cy="914400"/>
          </a:xfrm>
          <a:prstGeom prst="rect">
            <a:avLst/>
          </a:prstGeom>
          <a:noFill/>
          <a:ln/>
        </p:spPr>
        <p:txBody>
          <a:bodyPr wrap="square" lIns="0" tIns="0" rIns="0" bIns="0" rtlCol="0" anchor="ctr"/>
          <a:lstStyle/>
          <a:p>
            <a:pPr indent="0" marL="0">
              <a:buNone/>
            </a:pPr>
            <a:r>
              <a:rPr lang="en-US" sz="5400" b="1" dirty="0">
                <a:solidFill>
                  <a:srgbClr val="B8541C"/>
                </a:solidFill>
                <a:latin typeface="Cambria" pitchFamily="34" charset="0"/>
                <a:ea typeface="Cambria" pitchFamily="34" charset="-122"/>
                <a:cs typeface="Cambria" pitchFamily="34" charset="-120"/>
              </a:rPr>
              <a:t>200k</a:t>
            </a:r>
            <a:endParaRPr lang="en-US" sz="5400" dirty="0"/>
          </a:p>
        </p:txBody>
      </p:sp>
      <p:sp>
        <p:nvSpPr>
          <p:cNvPr id="5" name="Text 2"/>
          <p:cNvSpPr txBox="1"/>
          <p:nvPr/>
        </p:nvSpPr>
        <p:spPr>
          <a:xfrm>
            <a:off x="6400800" y="2788920"/>
            <a:ext cx="2377440" cy="365760"/>
          </a:xfrm>
          <a:prstGeom prst="rect">
            <a:avLst/>
          </a:prstGeom>
          <a:noFill/>
          <a:ln/>
        </p:spPr>
        <p:txBody>
          <a:bodyPr wrap="square" lIns="0" tIns="0" rIns="0" bIns="0" rtlCol="0" anchor="ctr"/>
          <a:lstStyle/>
          <a:p>
            <a:pPr indent="0" marL="0">
              <a:buNone/>
            </a:pPr>
            <a:r>
              <a:rPr lang="en-US" sz="1400" dirty="0">
                <a:solidFill>
                  <a:srgbClr val="8A857C"/>
                </a:solidFill>
                <a:latin typeface="Calibri" pitchFamily="34" charset="0"/>
                <a:ea typeface="Calibri" pitchFamily="34" charset="-122"/>
                <a:cs typeface="Calibri" pitchFamily="34" charset="-120"/>
              </a:rPr>
              <a:t>public debt, year 10</a:t>
            </a:r>
            <a:endParaRPr lang="en-US" sz="1400" dirty="0"/>
          </a:p>
        </p:txBody>
      </p:sp>
      <p:sp>
        <p:nvSpPr>
          <p:cNvPr id="6"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A startup cost</a:t>
            </a:r>
            <a:endParaRPr lang="en-US" sz="3600" dirty="0"/>
          </a:p>
        </p:txBody>
      </p:sp>
      <p:graphicFrame>
        <p:nvGraphicFramePr>
          <p:cNvPr id="3" name="Chart 0" descr=""/>
          <p:cNvGraphicFramePr/>
          <p:nvPr/>
        </p:nvGraphicFramePr>
        <p:xfrm>
          <a:off x="457200" y="118872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0" y="1920240"/>
            <a:ext cx="2377440" cy="914400"/>
          </a:xfrm>
          <a:prstGeom prst="rect">
            <a:avLst/>
          </a:prstGeom>
          <a:noFill/>
          <a:ln/>
        </p:spPr>
        <p:txBody>
          <a:bodyPr wrap="square" lIns="0" tIns="0" rIns="0" bIns="0" rtlCol="0" anchor="ctr"/>
          <a:lstStyle/>
          <a:p>
            <a:pPr indent="0" marL="0">
              <a:buNone/>
            </a:pPr>
            <a:r>
              <a:rPr lang="en-US" sz="4800" b="1" dirty="0">
                <a:solidFill>
                  <a:srgbClr val="2A7F62"/>
                </a:solidFill>
                <a:latin typeface="Cambria" pitchFamily="34" charset="0"/>
                <a:ea typeface="Cambria" pitchFamily="34" charset="-122"/>
                <a:cs typeface="Cambria" pitchFamily="34" charset="-120"/>
              </a:rPr>
              <a:t>Repaid</a:t>
            </a:r>
            <a:endParaRPr lang="en-US" sz="4800" dirty="0"/>
          </a:p>
        </p:txBody>
      </p:sp>
      <p:sp>
        <p:nvSpPr>
          <p:cNvPr id="5" name="Text 2"/>
          <p:cNvSpPr txBox="1"/>
          <p:nvPr/>
        </p:nvSpPr>
        <p:spPr>
          <a:xfrm>
            <a:off x="6400800" y="2743200"/>
            <a:ext cx="2377440" cy="365760"/>
          </a:xfrm>
          <a:prstGeom prst="rect">
            <a:avLst/>
          </a:prstGeom>
          <a:noFill/>
          <a:ln/>
        </p:spPr>
        <p:txBody>
          <a:bodyPr wrap="square" lIns="0" tIns="0" rIns="0" bIns="0" rtlCol="0" anchor="ctr"/>
          <a:lstStyle/>
          <a:p>
            <a:pPr indent="0" marL="0">
              <a:buNone/>
            </a:pPr>
            <a:r>
              <a:rPr lang="en-US" sz="1400" dirty="0">
                <a:solidFill>
                  <a:srgbClr val="8A857C"/>
                </a:solidFill>
                <a:latin typeface="Calibri" pitchFamily="34" charset="0"/>
                <a:ea typeface="Calibri" pitchFamily="34" charset="-122"/>
                <a:cs typeface="Calibri" pitchFamily="34" charset="-120"/>
              </a:rPr>
              <a:t>in every run</a:t>
            </a:r>
            <a:endParaRPr lang="en-US" sz="1400" dirty="0"/>
          </a:p>
        </p:txBody>
      </p:sp>
      <p:sp>
        <p:nvSpPr>
          <p:cNvPr id="6"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Shares, land, co-ops</a:t>
            </a:r>
            <a:endParaRPr lang="en-US" sz="3600" dirty="0"/>
          </a:p>
        </p:txBody>
      </p:sp>
      <p:graphicFrame>
        <p:nvGraphicFramePr>
          <p:cNvPr id="3" name="Chart 0" descr=""/>
          <p:cNvGraphicFramePr/>
          <p:nvPr/>
        </p:nvGraphicFramePr>
        <p:xfrm>
          <a:off x="457200" y="1188720"/>
          <a:ext cx="822960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1051560"/>
            <a:ext cx="3657600" cy="274320"/>
          </a:xfrm>
          <a:prstGeom prst="rect">
            <a:avLst/>
          </a:prstGeom>
          <a:noFill/>
          <a:ln/>
        </p:spPr>
        <p:txBody>
          <a:bodyPr wrap="square" lIns="0" tIns="0" rIns="0" bIns="0" rtlCol="0" anchor="ctr"/>
          <a:lstStyle/>
          <a:p>
            <a:pPr indent="0" marL="0">
              <a:buNone/>
            </a:pPr>
            <a:r>
              <a:rPr lang="en-US" sz="1200" dirty="0">
                <a:solidFill>
                  <a:srgbClr val="8A857C"/>
                </a:solidFill>
                <a:latin typeface="Calibri" pitchFamily="34" charset="0"/>
                <a:ea typeface="Calibri" pitchFamily="34" charset="-122"/>
                <a:cs typeface="Calibri" pitchFamily="34" charset="-120"/>
              </a:rPr>
              <a:t>rich–poor gap, in meals</a:t>
            </a:r>
            <a:endParaRPr lang="en-US" sz="1200" dirty="0"/>
          </a:p>
        </p:txBody>
      </p:sp>
      <p:sp>
        <p:nvSpPr>
          <p:cNvPr id="5" name="Text 2"/>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What is land worth?</a:t>
            </a:r>
            <a:endParaRPr lang="en-US" sz="3600" dirty="0"/>
          </a:p>
        </p:txBody>
      </p:sp>
      <p:sp>
        <p:nvSpPr>
          <p:cNvPr id="3" name="Shape 1"/>
          <p:cNvSpPr/>
          <p:nvPr/>
        </p:nvSpPr>
        <p:spPr>
          <a:xfrm>
            <a:off x="640080" y="1463040"/>
            <a:ext cx="2377440" cy="2011680"/>
          </a:xfrm>
          <a:prstGeom prst="roundRect">
            <a:avLst>
              <a:gd name="adj" fmla="val 6818"/>
            </a:avLst>
          </a:prstGeom>
          <a:solidFill>
            <a:srgbClr val="B8541C"/>
          </a:solidFill>
          <a:ln w="38100">
            <a:solidFill>
              <a:srgbClr val="B8541C"/>
            </a:solidFill>
            <a:prstDash val="solid"/>
          </a:ln>
        </p:spPr>
      </p:sp>
      <p:sp>
        <p:nvSpPr>
          <p:cNvPr id="4" name="Shape 2"/>
          <p:cNvSpPr/>
          <p:nvPr/>
        </p:nvSpPr>
        <p:spPr>
          <a:xfrm>
            <a:off x="1691640" y="1627632"/>
            <a:ext cx="274320" cy="274320"/>
          </a:xfrm>
          <a:prstGeom prst="ellipse">
            <a:avLst/>
          </a:prstGeom>
          <a:solidFill>
            <a:srgbClr val="FFFFFF"/>
          </a:solidFill>
          <a:ln w="25400">
            <a:solidFill>
              <a:srgbClr val="B8541C"/>
            </a:solidFill>
            <a:prstDash val="solid"/>
          </a:ln>
        </p:spPr>
      </p:sp>
      <p:sp>
        <p:nvSpPr>
          <p:cNvPr id="5" name="Text 3"/>
          <p:cNvSpPr txBox="1"/>
          <p:nvPr/>
        </p:nvSpPr>
        <p:spPr>
          <a:xfrm>
            <a:off x="640080" y="2103120"/>
            <a:ext cx="2377440" cy="82296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44</a:t>
            </a:r>
            <a:endParaRPr lang="en-US" sz="4800" dirty="0"/>
          </a:p>
        </p:txBody>
      </p:sp>
      <p:sp>
        <p:nvSpPr>
          <p:cNvPr id="6" name="Text 4"/>
          <p:cNvSpPr txBox="1"/>
          <p:nvPr/>
        </p:nvSpPr>
        <p:spPr>
          <a:xfrm>
            <a:off x="6400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debt money</a:t>
            </a:r>
            <a:endParaRPr lang="en-US" sz="1600" dirty="0"/>
          </a:p>
        </p:txBody>
      </p:sp>
      <p:sp>
        <p:nvSpPr>
          <p:cNvPr id="7" name="Shape 5"/>
          <p:cNvSpPr/>
          <p:nvPr/>
        </p:nvSpPr>
        <p:spPr>
          <a:xfrm>
            <a:off x="3383280" y="1463040"/>
            <a:ext cx="2377440" cy="2011680"/>
          </a:xfrm>
          <a:prstGeom prst="roundRect">
            <a:avLst>
              <a:gd name="adj" fmla="val 6818"/>
            </a:avLst>
          </a:prstGeom>
          <a:solidFill>
            <a:srgbClr val="2A7F62"/>
          </a:solidFill>
          <a:ln w="38100">
            <a:solidFill>
              <a:srgbClr val="2A7F62"/>
            </a:solidFill>
            <a:prstDash val="solid"/>
          </a:ln>
        </p:spPr>
      </p:sp>
      <p:sp>
        <p:nvSpPr>
          <p:cNvPr id="8" name="Shape 6"/>
          <p:cNvSpPr/>
          <p:nvPr/>
        </p:nvSpPr>
        <p:spPr>
          <a:xfrm>
            <a:off x="4434840" y="1627632"/>
            <a:ext cx="274320" cy="274320"/>
          </a:xfrm>
          <a:prstGeom prst="ellipse">
            <a:avLst/>
          </a:prstGeom>
          <a:solidFill>
            <a:srgbClr val="FFFFFF"/>
          </a:solidFill>
          <a:ln w="25400">
            <a:solidFill>
              <a:srgbClr val="2A7F62"/>
            </a:solidFill>
            <a:prstDash val="solid"/>
          </a:ln>
        </p:spPr>
      </p:sp>
      <p:sp>
        <p:nvSpPr>
          <p:cNvPr id="9" name="Text 7"/>
          <p:cNvSpPr txBox="1"/>
          <p:nvPr/>
        </p:nvSpPr>
        <p:spPr>
          <a:xfrm>
            <a:off x="3383280" y="2103120"/>
            <a:ext cx="2377440" cy="82296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1,400</a:t>
            </a:r>
            <a:endParaRPr lang="en-US" sz="4800" dirty="0"/>
          </a:p>
        </p:txBody>
      </p:sp>
      <p:sp>
        <p:nvSpPr>
          <p:cNvPr id="10" name="Text 8"/>
          <p:cNvSpPr txBox="1"/>
          <p:nvPr/>
        </p:nvSpPr>
        <p:spPr>
          <a:xfrm>
            <a:off x="33832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SuMSy</a:t>
            </a:r>
            <a:endParaRPr lang="en-US" sz="1600" dirty="0"/>
          </a:p>
        </p:txBody>
      </p:sp>
      <p:sp>
        <p:nvSpPr>
          <p:cNvPr id="11" name="Shape 9"/>
          <p:cNvSpPr/>
          <p:nvPr/>
        </p:nvSpPr>
        <p:spPr>
          <a:xfrm>
            <a:off x="6126480" y="1463040"/>
            <a:ext cx="2377440" cy="2011680"/>
          </a:xfrm>
          <a:prstGeom prst="roundRect">
            <a:avLst>
              <a:gd name="adj" fmla="val 6818"/>
            </a:avLst>
          </a:prstGeom>
          <a:solidFill>
            <a:srgbClr val="FFFFFF"/>
          </a:solidFill>
          <a:ln w="38100">
            <a:solidFill>
              <a:srgbClr val="2A7F62"/>
            </a:solidFill>
            <a:prstDash val="solid"/>
          </a:ln>
        </p:spPr>
      </p:sp>
      <p:sp>
        <p:nvSpPr>
          <p:cNvPr id="12" name="Shape 10"/>
          <p:cNvSpPr/>
          <p:nvPr/>
        </p:nvSpPr>
        <p:spPr>
          <a:xfrm>
            <a:off x="7178040" y="1627632"/>
            <a:ext cx="274320" cy="274320"/>
          </a:xfrm>
          <a:prstGeom prst="ellipse">
            <a:avLst/>
          </a:prstGeom>
          <a:solidFill>
            <a:srgbClr val="FFFFFF"/>
          </a:solidFill>
          <a:ln w="25400">
            <a:solidFill>
              <a:srgbClr val="2A7F62"/>
            </a:solidFill>
            <a:prstDash val="solid"/>
          </a:ln>
        </p:spPr>
      </p:sp>
      <p:sp>
        <p:nvSpPr>
          <p:cNvPr id="13" name="Text 11"/>
          <p:cNvSpPr txBox="1"/>
          <p:nvPr/>
        </p:nvSpPr>
        <p:spPr>
          <a:xfrm>
            <a:off x="6126480" y="2103120"/>
            <a:ext cx="2377440" cy="822960"/>
          </a:xfrm>
          <a:prstGeom prst="rect">
            <a:avLst/>
          </a:prstGeom>
          <a:noFill/>
          <a:ln/>
        </p:spPr>
        <p:txBody>
          <a:bodyPr wrap="square" lIns="0" tIns="0" rIns="0" bIns="0" rtlCol="0" anchor="ctr"/>
          <a:lstStyle/>
          <a:p>
            <a:pPr algn="ctr" indent="0" marL="0">
              <a:buNone/>
            </a:pPr>
            <a:r>
              <a:rPr lang="en-US" sz="4800" b="1" dirty="0">
                <a:solidFill>
                  <a:srgbClr val="2A7F62"/>
                </a:solidFill>
                <a:latin typeface="Cambria" pitchFamily="34" charset="0"/>
                <a:ea typeface="Cambria" pitchFamily="34" charset="-122"/>
                <a:cs typeface="Cambria" pitchFamily="34" charset="-120"/>
              </a:rPr>
              <a:t>49</a:t>
            </a:r>
            <a:endParaRPr lang="en-US" sz="4800" dirty="0"/>
          </a:p>
        </p:txBody>
      </p:sp>
      <p:sp>
        <p:nvSpPr>
          <p:cNvPr id="14" name="Text 12"/>
          <p:cNvSpPr txBox="1"/>
          <p:nvPr/>
        </p:nvSpPr>
        <p:spPr>
          <a:xfrm>
            <a:off x="61264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SuMSy + land fee</a:t>
            </a:r>
            <a:endParaRPr lang="en-US" sz="1600" dirty="0"/>
          </a:p>
        </p:txBody>
      </p:sp>
      <p:sp>
        <p:nvSpPr>
          <p:cNvPr id="15" name="Text 13"/>
          <p:cNvSpPr txBox="1"/>
          <p:nvPr/>
        </p:nvSpPr>
        <p:spPr>
          <a:xfrm>
            <a:off x="548640" y="4206240"/>
            <a:ext cx="8046720" cy="320040"/>
          </a:xfrm>
          <a:prstGeom prst="rect">
            <a:avLst/>
          </a:prstGeom>
          <a:noFill/>
          <a:ln/>
        </p:spPr>
        <p:txBody>
          <a:bodyPr wrap="square" lIns="0" tIns="0" rIns="0" bIns="0" rtlCol="0" anchor="ctr"/>
          <a:lstStyle/>
          <a:p>
            <a:pPr algn="ctr" indent="0" marL="0">
              <a:buNone/>
            </a:pPr>
            <a:r>
              <a:rPr lang="en-US" sz="1300" dirty="0">
                <a:solidFill>
                  <a:srgbClr val="8A857C"/>
                </a:solidFill>
                <a:latin typeface="Calibri" pitchFamily="34" charset="0"/>
                <a:ea typeface="Calibri" pitchFamily="34" charset="-122"/>
                <a:cs typeface="Calibri" pitchFamily="34" charset="-120"/>
              </a:rPr>
              <a:t>months of rent</a:t>
            </a:r>
            <a:endParaRPr lang="en-US" sz="1300" dirty="0"/>
          </a:p>
        </p:txBody>
      </p:sp>
      <p:sp>
        <p:nvSpPr>
          <p:cNvPr id="16" name="Text 14"/>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Everyone greedy</a:t>
            </a:r>
            <a:endParaRPr lang="en-US" sz="3600" dirty="0"/>
          </a:p>
        </p:txBody>
      </p:sp>
      <p:sp>
        <p:nvSpPr>
          <p:cNvPr id="3" name="Shape 1"/>
          <p:cNvSpPr/>
          <p:nvPr/>
        </p:nvSpPr>
        <p:spPr>
          <a:xfrm>
            <a:off x="731520" y="1417320"/>
            <a:ext cx="2011680" cy="731520"/>
          </a:xfrm>
          <a:prstGeom prst="roundRect">
            <a:avLst>
              <a:gd name="adj" fmla="val 12500"/>
            </a:avLst>
          </a:prstGeom>
          <a:solidFill>
            <a:srgbClr val="B8541C"/>
          </a:solidFill>
          <a:ln w="12700">
            <a:solidFill>
              <a:srgbClr val="B8541C"/>
            </a:solidFill>
            <a:prstDash val="solid"/>
          </a:ln>
        </p:spPr>
      </p:sp>
      <p:sp>
        <p:nvSpPr>
          <p:cNvPr id="4" name="Text 2"/>
          <p:cNvSpPr txBox="1"/>
          <p:nvPr/>
        </p:nvSpPr>
        <p:spPr>
          <a:xfrm>
            <a:off x="731520" y="1417320"/>
            <a:ext cx="201168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CLOSED</a:t>
            </a:r>
            <a:endParaRPr lang="en-US" sz="2400" dirty="0"/>
          </a:p>
        </p:txBody>
      </p:sp>
      <p:pic>
        <p:nvPicPr>
          <p:cNvPr id="5" name="Image 0" descr="preencoded.png">    </p:cNvPr>
          <p:cNvPicPr>
            <a:picLocks noChangeAspect="1"/>
          </p:cNvPicPr>
          <p:nvPr/>
        </p:nvPicPr>
        <p:blipFill>
          <a:blip r:embed="rId1"/>
          <a:stretch>
            <a:fillRect/>
          </a:stretch>
        </p:blipFill>
        <p:spPr>
          <a:xfrm>
            <a:off x="3017520" y="1508760"/>
            <a:ext cx="548640" cy="548640"/>
          </a:xfrm>
          <a:prstGeom prst="rect">
            <a:avLst/>
          </a:prstGeom>
        </p:spPr>
      </p:pic>
      <p:sp>
        <p:nvSpPr>
          <p:cNvPr id="6" name="Shape 3"/>
          <p:cNvSpPr/>
          <p:nvPr/>
        </p:nvSpPr>
        <p:spPr>
          <a:xfrm>
            <a:off x="3840480" y="1417320"/>
            <a:ext cx="2011680" cy="731520"/>
          </a:xfrm>
          <a:prstGeom prst="roundRect">
            <a:avLst>
              <a:gd name="adj" fmla="val 12500"/>
            </a:avLst>
          </a:prstGeom>
          <a:solidFill>
            <a:srgbClr val="2A7F62"/>
          </a:solidFill>
          <a:ln w="12700">
            <a:solidFill>
              <a:srgbClr val="2A7F62"/>
            </a:solidFill>
            <a:prstDash val="solid"/>
          </a:ln>
        </p:spPr>
      </p:sp>
      <p:sp>
        <p:nvSpPr>
          <p:cNvPr id="7" name="Text 4"/>
          <p:cNvSpPr txBox="1"/>
          <p:nvPr/>
        </p:nvSpPr>
        <p:spPr>
          <a:xfrm>
            <a:off x="3840480" y="1417320"/>
            <a:ext cx="201168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OPEN</a:t>
            </a:r>
            <a:endParaRPr lang="en-US" sz="2400" dirty="0"/>
          </a:p>
        </p:txBody>
      </p:sp>
      <p:sp>
        <p:nvSpPr>
          <p:cNvPr id="8" name="Text 5"/>
          <p:cNvSpPr txBox="1"/>
          <p:nvPr/>
        </p:nvSpPr>
        <p:spPr>
          <a:xfrm>
            <a:off x="6400800" y="1325880"/>
            <a:ext cx="2377440" cy="914400"/>
          </a:xfrm>
          <a:prstGeom prst="rect">
            <a:avLst/>
          </a:prstGeom>
          <a:noFill/>
          <a:ln/>
        </p:spPr>
        <p:txBody>
          <a:bodyPr wrap="square" lIns="0" tIns="0" rIns="0" bIns="0" rtlCol="0" anchor="ctr"/>
          <a:lstStyle/>
          <a:p>
            <a:pPr indent="0" marL="0">
              <a:buNone/>
            </a:pPr>
            <a:r>
              <a:rPr lang="en-US" sz="5400" b="1" dirty="0">
                <a:solidFill>
                  <a:srgbClr val="1F1D1A"/>
                </a:solidFill>
                <a:latin typeface="Cambria" pitchFamily="34" charset="0"/>
                <a:ea typeface="Cambria" pitchFamily="34" charset="-122"/>
                <a:cs typeface="Cambria" pitchFamily="34" charset="-120"/>
              </a:rPr>
              <a:t>×50</a:t>
            </a:r>
            <a:endParaRPr lang="en-US" sz="5400" dirty="0"/>
          </a:p>
        </p:txBody>
      </p:sp>
      <p:pic>
        <p:nvPicPr>
          <p:cNvPr id="9" name="Image 1" descr="preencoded.png">    </p:cNvPr>
          <p:cNvPicPr>
            <a:picLocks noChangeAspect="1"/>
          </p:cNvPicPr>
          <p:nvPr/>
        </p:nvPicPr>
        <p:blipFill>
          <a:blip r:embed="rId2"/>
          <a:stretch>
            <a:fillRect/>
          </a:stretch>
        </p:blipFill>
        <p:spPr>
          <a:xfrm>
            <a:off x="1463040" y="2514600"/>
            <a:ext cx="5120640" cy="2432304"/>
          </a:xfrm>
          <a:prstGeom prst="rect">
            <a:avLst/>
          </a:prstGeom>
        </p:spPr>
      </p:pic>
      <p:sp>
        <p:nvSpPr>
          <p:cNvPr id="10" name="Text 6"/>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What it takes</a:t>
            </a:r>
            <a:endParaRPr lang="en-US" sz="3600" dirty="0"/>
          </a:p>
        </p:txBody>
      </p:sp>
      <p:sp>
        <p:nvSpPr>
          <p:cNvPr id="3" name="Shape 1"/>
          <p:cNvSpPr/>
          <p:nvPr/>
        </p:nvSpPr>
        <p:spPr>
          <a:xfrm>
            <a:off x="731520" y="1554480"/>
            <a:ext cx="960120" cy="960120"/>
          </a:xfrm>
          <a:prstGeom prst="ellipse">
            <a:avLst/>
          </a:prstGeom>
          <a:solidFill>
            <a:srgbClr val="B8541C"/>
          </a:solidFill>
          <a:ln w="12700">
            <a:solidFill>
              <a:srgbClr val="B8541C"/>
            </a:solidFill>
            <a:prstDash val="solid"/>
          </a:ln>
        </p:spPr>
      </p:sp>
      <p:pic>
        <p:nvPicPr>
          <p:cNvPr id="4" name="Image 0" descr="preencoded.png">    </p:cNvPr>
          <p:cNvPicPr>
            <a:picLocks noChangeAspect="1"/>
          </p:cNvPicPr>
          <p:nvPr/>
        </p:nvPicPr>
        <p:blipFill>
          <a:blip r:embed="rId1"/>
          <a:stretch>
            <a:fillRect/>
          </a:stretch>
        </p:blipFill>
        <p:spPr>
          <a:xfrm>
            <a:off x="950976" y="1773936"/>
            <a:ext cx="521208" cy="521208"/>
          </a:xfrm>
          <a:prstGeom prst="rect">
            <a:avLst/>
          </a:prstGeom>
        </p:spPr>
      </p:pic>
      <p:sp>
        <p:nvSpPr>
          <p:cNvPr id="5" name="Shape 2"/>
          <p:cNvSpPr/>
          <p:nvPr/>
        </p:nvSpPr>
        <p:spPr>
          <a:xfrm>
            <a:off x="1965960" y="1554480"/>
            <a:ext cx="960120" cy="960120"/>
          </a:xfrm>
          <a:prstGeom prst="ellipse">
            <a:avLst/>
          </a:prstGeom>
          <a:solidFill>
            <a:srgbClr val="B8541C"/>
          </a:solidFill>
          <a:ln w="12700">
            <a:solidFill>
              <a:srgbClr val="B8541C"/>
            </a:solidFill>
            <a:prstDash val="solid"/>
          </a:ln>
        </p:spPr>
      </p:sp>
      <p:pic>
        <p:nvPicPr>
          <p:cNvPr id="6" name="Image 1" descr="preencoded.png">    </p:cNvPr>
          <p:cNvPicPr>
            <a:picLocks noChangeAspect="1"/>
          </p:cNvPicPr>
          <p:nvPr/>
        </p:nvPicPr>
        <p:blipFill>
          <a:blip r:embed="rId2"/>
          <a:stretch>
            <a:fillRect/>
          </a:stretch>
        </p:blipFill>
        <p:spPr>
          <a:xfrm>
            <a:off x="2185416" y="1773936"/>
            <a:ext cx="521208" cy="521208"/>
          </a:xfrm>
          <a:prstGeom prst="rect">
            <a:avLst/>
          </a:prstGeom>
        </p:spPr>
      </p:pic>
      <p:sp>
        <p:nvSpPr>
          <p:cNvPr id="7" name="Shape 3"/>
          <p:cNvSpPr/>
          <p:nvPr/>
        </p:nvSpPr>
        <p:spPr>
          <a:xfrm>
            <a:off x="4754880" y="1554480"/>
            <a:ext cx="960120" cy="960120"/>
          </a:xfrm>
          <a:prstGeom prst="ellipse">
            <a:avLst/>
          </a:prstGeom>
          <a:solidFill>
            <a:srgbClr val="2A7F62"/>
          </a:solidFill>
          <a:ln w="12700">
            <a:solidFill>
              <a:srgbClr val="2A7F62"/>
            </a:solidFill>
            <a:prstDash val="solid"/>
          </a:ln>
        </p:spPr>
      </p:sp>
      <p:pic>
        <p:nvPicPr>
          <p:cNvPr id="8" name="Image 2" descr="preencoded.png">    </p:cNvPr>
          <p:cNvPicPr>
            <a:picLocks noChangeAspect="1"/>
          </p:cNvPicPr>
          <p:nvPr/>
        </p:nvPicPr>
        <p:blipFill>
          <a:blip r:embed="rId3"/>
          <a:stretch>
            <a:fillRect/>
          </a:stretch>
        </p:blipFill>
        <p:spPr>
          <a:xfrm>
            <a:off x="4974336" y="1773936"/>
            <a:ext cx="521208" cy="521208"/>
          </a:xfrm>
          <a:prstGeom prst="rect">
            <a:avLst/>
          </a:prstGeom>
        </p:spPr>
      </p:pic>
      <p:sp>
        <p:nvSpPr>
          <p:cNvPr id="9" name="Shape 4"/>
          <p:cNvSpPr/>
          <p:nvPr/>
        </p:nvSpPr>
        <p:spPr>
          <a:xfrm>
            <a:off x="5989320" y="1554480"/>
            <a:ext cx="960120" cy="960120"/>
          </a:xfrm>
          <a:prstGeom prst="ellipse">
            <a:avLst/>
          </a:prstGeom>
          <a:solidFill>
            <a:srgbClr val="2A7F62"/>
          </a:solidFill>
          <a:ln w="12700">
            <a:solidFill>
              <a:srgbClr val="2A7F62"/>
            </a:solidFill>
            <a:prstDash val="solid"/>
          </a:ln>
        </p:spPr>
      </p:sp>
      <p:pic>
        <p:nvPicPr>
          <p:cNvPr id="10" name="Image 3" descr="preencoded.png">    </p:cNvPr>
          <p:cNvPicPr>
            <a:picLocks noChangeAspect="1"/>
          </p:cNvPicPr>
          <p:nvPr/>
        </p:nvPicPr>
        <p:blipFill>
          <a:blip r:embed="rId4"/>
          <a:stretch>
            <a:fillRect/>
          </a:stretch>
        </p:blipFill>
        <p:spPr>
          <a:xfrm>
            <a:off x="6208776" y="1773936"/>
            <a:ext cx="521208" cy="521208"/>
          </a:xfrm>
          <a:prstGeom prst="rect">
            <a:avLst/>
          </a:prstGeom>
        </p:spPr>
      </p:pic>
      <p:sp>
        <p:nvSpPr>
          <p:cNvPr id="11" name="Shape 5"/>
          <p:cNvSpPr/>
          <p:nvPr/>
        </p:nvSpPr>
        <p:spPr>
          <a:xfrm>
            <a:off x="7223760" y="1554480"/>
            <a:ext cx="960120" cy="960120"/>
          </a:xfrm>
          <a:prstGeom prst="ellipse">
            <a:avLst/>
          </a:prstGeom>
          <a:solidFill>
            <a:srgbClr val="2A7F62"/>
          </a:solidFill>
          <a:ln w="12700">
            <a:solidFill>
              <a:srgbClr val="2A7F62"/>
            </a:solidFill>
            <a:prstDash val="solid"/>
          </a:ln>
        </p:spPr>
      </p:sp>
      <p:pic>
        <p:nvPicPr>
          <p:cNvPr id="12" name="Image 4" descr="preencoded.png">    </p:cNvPr>
          <p:cNvPicPr>
            <a:picLocks noChangeAspect="1"/>
          </p:cNvPicPr>
          <p:nvPr/>
        </p:nvPicPr>
        <p:blipFill>
          <a:blip r:embed="rId5"/>
          <a:stretch>
            <a:fillRect/>
          </a:stretch>
        </p:blipFill>
        <p:spPr>
          <a:xfrm>
            <a:off x="7443216" y="1773936"/>
            <a:ext cx="521208" cy="521208"/>
          </a:xfrm>
          <a:prstGeom prst="rect">
            <a:avLst/>
          </a:prstGeom>
        </p:spPr>
      </p:pic>
      <p:sp>
        <p:nvSpPr>
          <p:cNvPr id="13" name="Text 6"/>
          <p:cNvSpPr txBox="1"/>
          <p:nvPr/>
        </p:nvSpPr>
        <p:spPr>
          <a:xfrm>
            <a:off x="731520" y="2697480"/>
            <a:ext cx="2194560" cy="365760"/>
          </a:xfrm>
          <a:prstGeom prst="rect">
            <a:avLst/>
          </a:prstGeom>
          <a:noFill/>
          <a:ln/>
        </p:spPr>
        <p:txBody>
          <a:bodyPr wrap="square" lIns="0" tIns="0" rIns="0" bIns="0" rtlCol="0" anchor="ctr"/>
          <a:lstStyle/>
          <a:p>
            <a:pPr indent="0" marL="0">
              <a:buNone/>
            </a:pPr>
            <a:r>
              <a:rPr lang="en-US" sz="1800" b="1" spc="400" kern="0" dirty="0">
                <a:solidFill>
                  <a:srgbClr val="B8541C"/>
                </a:solidFill>
                <a:latin typeface="Calibri" pitchFamily="34" charset="0"/>
                <a:ea typeface="Calibri" pitchFamily="34" charset="-122"/>
                <a:cs typeface="Calibri" pitchFamily="34" charset="-120"/>
              </a:rPr>
              <a:t>DEBT</a:t>
            </a:r>
            <a:endParaRPr lang="en-US" sz="1800" dirty="0"/>
          </a:p>
        </p:txBody>
      </p:sp>
      <p:sp>
        <p:nvSpPr>
          <p:cNvPr id="14" name="Text 7"/>
          <p:cNvSpPr txBox="1"/>
          <p:nvPr/>
        </p:nvSpPr>
        <p:spPr>
          <a:xfrm>
            <a:off x="4754880" y="2697480"/>
            <a:ext cx="3474720" cy="365760"/>
          </a:xfrm>
          <a:prstGeom prst="rect">
            <a:avLst/>
          </a:prstGeom>
          <a:noFill/>
          <a:ln/>
        </p:spPr>
        <p:txBody>
          <a:bodyPr wrap="square" lIns="0" tIns="0" rIns="0" bIns="0" rtlCol="0" anchor="ctr"/>
          <a:lstStyle/>
          <a:p>
            <a:pPr indent="0" marL="0">
              <a:buNone/>
            </a:pPr>
            <a:r>
              <a:rPr lang="en-US" sz="1800" b="1" spc="400" kern="0" dirty="0">
                <a:solidFill>
                  <a:srgbClr val="2A7F62"/>
                </a:solidFill>
                <a:latin typeface="Calibri" pitchFamily="34" charset="0"/>
                <a:ea typeface="Calibri" pitchFamily="34" charset="-122"/>
                <a:cs typeface="Calibri" pitchFamily="34" charset="-120"/>
              </a:rPr>
              <a:t>SUMSY</a:t>
            </a:r>
            <a:endParaRPr lang="en-US" sz="1800" dirty="0"/>
          </a:p>
        </p:txBody>
      </p:sp>
      <p:sp>
        <p:nvSpPr>
          <p:cNvPr id="15" name="Shape 8"/>
          <p:cNvSpPr/>
          <p:nvPr/>
        </p:nvSpPr>
        <p:spPr>
          <a:xfrm>
            <a:off x="3566160" y="3429000"/>
            <a:ext cx="960120" cy="960120"/>
          </a:xfrm>
          <a:prstGeom prst="ellipse">
            <a:avLst/>
          </a:prstGeom>
          <a:solidFill>
            <a:srgbClr val="1F1D1A"/>
          </a:solidFill>
          <a:ln w="12700">
            <a:solidFill>
              <a:srgbClr val="1F1D1A"/>
            </a:solidFill>
            <a:prstDash val="solid"/>
          </a:ln>
        </p:spPr>
      </p:sp>
      <p:pic>
        <p:nvPicPr>
          <p:cNvPr id="16" name="Image 5" descr="preencoded.png">    </p:cNvPr>
          <p:cNvPicPr>
            <a:picLocks noChangeAspect="1"/>
          </p:cNvPicPr>
          <p:nvPr/>
        </p:nvPicPr>
        <p:blipFill>
          <a:blip r:embed="rId6"/>
          <a:stretch>
            <a:fillRect/>
          </a:stretch>
        </p:blipFill>
        <p:spPr>
          <a:xfrm>
            <a:off x="3785616" y="3648456"/>
            <a:ext cx="521208" cy="521208"/>
          </a:xfrm>
          <a:prstGeom prst="rect">
            <a:avLst/>
          </a:prstGeom>
        </p:spPr>
      </p:pic>
      <p:sp>
        <p:nvSpPr>
          <p:cNvPr id="17" name="Shape 9"/>
          <p:cNvSpPr/>
          <p:nvPr/>
        </p:nvSpPr>
        <p:spPr>
          <a:xfrm>
            <a:off x="4800600" y="3429000"/>
            <a:ext cx="960120" cy="960120"/>
          </a:xfrm>
          <a:prstGeom prst="ellipse">
            <a:avLst/>
          </a:prstGeom>
          <a:solidFill>
            <a:srgbClr val="1F1D1A"/>
          </a:solidFill>
          <a:ln w="12700">
            <a:solidFill>
              <a:srgbClr val="1F1D1A"/>
            </a:solidFill>
            <a:prstDash val="solid"/>
          </a:ln>
        </p:spPr>
      </p:sp>
      <p:pic>
        <p:nvPicPr>
          <p:cNvPr id="18" name="Image 6" descr="preencoded.png">    </p:cNvPr>
          <p:cNvPicPr>
            <a:picLocks noChangeAspect="1"/>
          </p:cNvPicPr>
          <p:nvPr/>
        </p:nvPicPr>
        <p:blipFill>
          <a:blip r:embed="rId7"/>
          <a:stretch>
            <a:fillRect/>
          </a:stretch>
        </p:blipFill>
        <p:spPr>
          <a:xfrm>
            <a:off x="5020056" y="3648456"/>
            <a:ext cx="521208" cy="521208"/>
          </a:xfrm>
          <a:prstGeom prst="rect">
            <a:avLst/>
          </a:prstGeom>
        </p:spPr>
      </p:pic>
      <p:pic>
        <p:nvPicPr>
          <p:cNvPr id="19" name="Image 7" descr="preencoded.png">    </p:cNvPr>
          <p:cNvPicPr>
            <a:picLocks noChangeAspect="1"/>
          </p:cNvPicPr>
          <p:nvPr/>
        </p:nvPicPr>
        <p:blipFill>
          <a:blip r:embed="rId8"/>
          <a:stretch>
            <a:fillRect/>
          </a:stretch>
        </p:blipFill>
        <p:spPr>
          <a:xfrm>
            <a:off x="4754880" y="3383280"/>
            <a:ext cx="1051560" cy="1051560"/>
          </a:xfrm>
          <a:prstGeom prst="rect">
            <a:avLst/>
          </a:prstGeom>
        </p:spPr>
      </p:pic>
      <p:sp>
        <p:nvSpPr>
          <p:cNvPr id="20" name="Text 10"/>
          <p:cNvSpPr txBox="1"/>
          <p:nvPr/>
        </p:nvSpPr>
        <p:spPr>
          <a:xfrm>
            <a:off x="2377440" y="3749040"/>
            <a:ext cx="1005840" cy="365760"/>
          </a:xfrm>
          <a:prstGeom prst="rect">
            <a:avLst/>
          </a:prstGeom>
          <a:noFill/>
          <a:ln/>
        </p:spPr>
        <p:txBody>
          <a:bodyPr wrap="square" lIns="0" tIns="0" rIns="0" bIns="0" rtlCol="0" anchor="ctr"/>
          <a:lstStyle/>
          <a:p>
            <a:pPr indent="0" marL="0">
              <a:buNone/>
            </a:pPr>
            <a:r>
              <a:rPr lang="en-US" sz="1800" b="1" spc="400" kern="0" dirty="0">
                <a:solidFill>
                  <a:srgbClr val="1F1D1A"/>
                </a:solidFill>
                <a:latin typeface="Calibri" pitchFamily="34" charset="0"/>
                <a:ea typeface="Calibri" pitchFamily="34" charset="-122"/>
                <a:cs typeface="Calibri" pitchFamily="34" charset="-120"/>
              </a:rPr>
              <a:t>BOTH</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D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548640"/>
            <a:ext cx="2926080" cy="1463040"/>
          </a:xfrm>
          <a:prstGeom prst="rect">
            <a:avLst/>
          </a:prstGeom>
        </p:spPr>
      </p:pic>
      <p:pic>
        <p:nvPicPr>
          <p:cNvPr id="3" name="Image 1" descr="preencoded.png">    </p:cNvPr>
          <p:cNvPicPr>
            <a:picLocks noChangeAspect="1"/>
          </p:cNvPicPr>
          <p:nvPr/>
        </p:nvPicPr>
        <p:blipFill>
          <a:blip r:embed="rId2"/>
          <a:stretch>
            <a:fillRect/>
          </a:stretch>
        </p:blipFill>
        <p:spPr>
          <a:xfrm>
            <a:off x="457200" y="2148840"/>
            <a:ext cx="2926080" cy="1463040"/>
          </a:xfrm>
          <a:prstGeom prst="rect">
            <a:avLst/>
          </a:prstGeom>
        </p:spPr>
      </p:pic>
      <p:pic>
        <p:nvPicPr>
          <p:cNvPr id="4" name="Image 2" descr="preencoded.png">    </p:cNvPr>
          <p:cNvPicPr>
            <a:picLocks noChangeAspect="1"/>
          </p:cNvPicPr>
          <p:nvPr/>
        </p:nvPicPr>
        <p:blipFill>
          <a:blip r:embed="rId3"/>
          <a:stretch>
            <a:fillRect/>
          </a:stretch>
        </p:blipFill>
        <p:spPr>
          <a:xfrm>
            <a:off x="6492240" y="640080"/>
            <a:ext cx="2011680" cy="2011680"/>
          </a:xfrm>
          <a:prstGeom prst="rect">
            <a:avLst/>
          </a:prstGeom>
        </p:spPr>
      </p:pic>
      <p:sp>
        <p:nvSpPr>
          <p:cNvPr id="5" name="Text 0"/>
          <p:cNvSpPr txBox="1"/>
          <p:nvPr/>
        </p:nvSpPr>
        <p:spPr>
          <a:xfrm>
            <a:off x="457200" y="3931920"/>
            <a:ext cx="8229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Which rule would you change?</a:t>
            </a:r>
            <a:endParaRPr lang="en-US" sz="3400" dirty="0"/>
          </a:p>
        </p:txBody>
      </p:sp>
      <p:sp>
        <p:nvSpPr>
          <p:cNvPr id="6" name="Text 1"/>
          <p:cNvSpPr txBox="1"/>
          <p:nvPr/>
        </p:nvSpPr>
        <p:spPr>
          <a:xfrm>
            <a:off x="6035040" y="2788920"/>
            <a:ext cx="2926080" cy="365760"/>
          </a:xfrm>
          <a:prstGeom prst="rect">
            <a:avLst/>
          </a:prstGeom>
          <a:noFill/>
          <a:ln/>
        </p:spPr>
        <p:txBody>
          <a:bodyPr wrap="square" lIns="0" tIns="0" rIns="0" bIns="0" rtlCol="0" anchor="ctr"/>
          <a:lstStyle/>
          <a:p>
            <a:pPr algn="ctr" indent="0" marL="0">
              <a:buNone/>
            </a:pPr>
            <a:r>
              <a:rPr lang="en-US" sz="1600" dirty="0">
                <a:solidFill>
                  <a:srgbClr val="CFC8BB"/>
                </a:solidFill>
                <a:latin typeface="Calibri" pitchFamily="34" charset="0"/>
                <a:ea typeface="Calibri" pitchFamily="34" charset="-122"/>
                <a:cs typeface="Calibri" pitchFamily="34" charset="-120"/>
              </a:rPr>
              <a:t>The village is public</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simulated economy – What it takes to survive</dc:title>
  <dc:subject>PptxGenJS Presentation</dc:subject>
  <dc:creator>PptxGenJS</dc:creator>
  <cp:lastModifiedBy>PptxGenJS</cp:lastModifiedBy>
  <cp:revision>1</cp:revision>
  <dcterms:created xsi:type="dcterms:W3CDTF">2026-10-14T05:13:14Z</dcterms:created>
  <dcterms:modified xsi:type="dcterms:W3CDTF">2026-10-14T05:13:14Z</dcterms:modified>
</cp:coreProperties>
</file>