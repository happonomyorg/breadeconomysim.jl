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Debt money</c:v>
                </c:pt>
              </c:strCache>
            </c:strRef>
          </c:tx>
          <c:spPr>
            <a:solidFill>
              <a:srgbClr val="B8541C"/>
            </a:solidFill>
            <a:ln w="38100" cap="flat">
              <a:solidFill>
                <a:srgbClr val="B854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541C"/>
              </a:solidFill>
              <a:ln w="9525" cap="flat">
                <a:solidFill>
                  <a:srgbClr val="B8541C"/>
                </a:solidFill>
                <a:prstDash val="solid"/>
                <a:round/>
              </a:ln>
              <a:effectLst/>
            </c:spPr>
          </c:marker>
          <c:cat>
            <c:multiLvlStrRef>
              <c:f>Sheet1!$A$2:$A$121</c:f>
              <c:multiLvlStrCache>
                <c:ptCount val="120"/>
                <c:lvl>
                  <c:pt idx="0">
                    <c:v/>
                  </c:pt>
                  <c:pt idx="1">
                    <c:v/>
                  </c:pt>
                  <c:pt idx="2">
                    <c:v/>
                  </c:pt>
                  <c:pt idx="3">
                    <c:v/>
                  </c:pt>
                  <c:pt idx="4">
                    <c:v/>
                  </c:pt>
                  <c:pt idx="5">
                    <c:v/>
                  </c:pt>
                  <c:pt idx="6">
                    <c:v/>
                  </c:pt>
                  <c:pt idx="7">
                    <c:v/>
                  </c:pt>
                  <c:pt idx="8">
                    <c:v/>
                  </c:pt>
                  <c:pt idx="9">
                    <c:v/>
                  </c:pt>
                  <c:pt idx="10">
                    <c:v/>
                  </c:pt>
                  <c:pt idx="11">
                    <c:v>1</c:v>
                  </c:pt>
                  <c:pt idx="12">
                    <c:v/>
                  </c:pt>
                  <c:pt idx="13">
                    <c:v/>
                  </c:pt>
                  <c:pt idx="14">
                    <c:v/>
                  </c:pt>
                  <c:pt idx="15">
                    <c:v/>
                  </c:pt>
                  <c:pt idx="16">
                    <c:v/>
                  </c:pt>
                  <c:pt idx="17">
                    <c:v/>
                  </c:pt>
                  <c:pt idx="18">
                    <c:v/>
                  </c:pt>
                  <c:pt idx="19">
                    <c:v/>
                  </c:pt>
                  <c:pt idx="20">
                    <c:v/>
                  </c:pt>
                  <c:pt idx="21">
                    <c:v/>
                  </c:pt>
                  <c:pt idx="22">
                    <c:v/>
                  </c:pt>
                  <c:pt idx="23">
                    <c:v>2</c:v>
                  </c:pt>
                  <c:pt idx="24">
                    <c:v/>
                  </c:pt>
                  <c:pt idx="25">
                    <c:v/>
                  </c:pt>
                  <c:pt idx="26">
                    <c:v/>
                  </c:pt>
                  <c:pt idx="27">
                    <c:v/>
                  </c:pt>
                  <c:pt idx="28">
                    <c:v/>
                  </c:pt>
                  <c:pt idx="29">
                    <c:v/>
                  </c:pt>
                  <c:pt idx="30">
                    <c:v/>
                  </c:pt>
                  <c:pt idx="31">
                    <c:v/>
                  </c:pt>
                  <c:pt idx="32">
                    <c:v/>
                  </c:pt>
                  <c:pt idx="33">
                    <c:v/>
                  </c:pt>
                  <c:pt idx="34">
                    <c:v/>
                  </c:pt>
                  <c:pt idx="35">
                    <c:v>3</c:v>
                  </c:pt>
                  <c:pt idx="36">
                    <c:v/>
                  </c:pt>
                  <c:pt idx="37">
                    <c:v/>
                  </c:pt>
                  <c:pt idx="38">
                    <c:v/>
                  </c:pt>
                  <c:pt idx="39">
                    <c:v/>
                  </c:pt>
                  <c:pt idx="40">
                    <c:v/>
                  </c:pt>
                  <c:pt idx="41">
                    <c:v/>
                  </c:pt>
                  <c:pt idx="42">
                    <c:v/>
                  </c:pt>
                  <c:pt idx="43">
                    <c:v/>
                  </c:pt>
                  <c:pt idx="44">
                    <c:v/>
                  </c:pt>
                  <c:pt idx="45">
                    <c:v/>
                  </c:pt>
                  <c:pt idx="46">
                    <c:v/>
                  </c:pt>
                  <c:pt idx="47">
                    <c:v>4</c:v>
                  </c:pt>
                  <c:pt idx="48">
                    <c:v/>
                  </c:pt>
                  <c:pt idx="49">
                    <c:v/>
                  </c:pt>
                  <c:pt idx="50">
                    <c:v/>
                  </c:pt>
                  <c:pt idx="51">
                    <c:v/>
                  </c:pt>
                  <c:pt idx="52">
                    <c:v/>
                  </c:pt>
                  <c:pt idx="53">
                    <c:v/>
                  </c:pt>
                  <c:pt idx="54">
                    <c:v/>
                  </c:pt>
                  <c:pt idx="55">
                    <c:v/>
                  </c:pt>
                  <c:pt idx="56">
                    <c:v/>
                  </c:pt>
                  <c:pt idx="57">
                    <c:v/>
                  </c:pt>
                  <c:pt idx="58">
                    <c:v/>
                  </c:pt>
                  <c:pt idx="59">
                    <c:v>5</c:v>
                  </c:pt>
                  <c:pt idx="60">
                    <c:v/>
                  </c:pt>
                  <c:pt idx="61">
                    <c:v/>
                  </c:pt>
                  <c:pt idx="62">
                    <c:v/>
                  </c:pt>
                  <c:pt idx="63">
                    <c:v/>
                  </c:pt>
                  <c:pt idx="64">
                    <c:v/>
                  </c:pt>
                  <c:pt idx="65">
                    <c:v/>
                  </c:pt>
                  <c:pt idx="66">
                    <c:v/>
                  </c:pt>
                  <c:pt idx="67">
                    <c:v/>
                  </c:pt>
                  <c:pt idx="68">
                    <c:v/>
                  </c:pt>
                  <c:pt idx="69">
                    <c:v/>
                  </c:pt>
                  <c:pt idx="70">
                    <c:v/>
                  </c:pt>
                  <c:pt idx="71">
                    <c:v>6</c:v>
                  </c:pt>
                  <c:pt idx="72">
                    <c:v/>
                  </c:pt>
                  <c:pt idx="73">
                    <c:v/>
                  </c:pt>
                  <c:pt idx="74">
                    <c:v/>
                  </c:pt>
                  <c:pt idx="75">
                    <c:v/>
                  </c:pt>
                  <c:pt idx="76">
                    <c:v/>
                  </c:pt>
                  <c:pt idx="77">
                    <c:v/>
                  </c:pt>
                  <c:pt idx="78">
                    <c:v/>
                  </c:pt>
                  <c:pt idx="79">
                    <c:v/>
                  </c:pt>
                  <c:pt idx="80">
                    <c:v/>
                  </c:pt>
                  <c:pt idx="81">
                    <c:v/>
                  </c:pt>
                  <c:pt idx="82">
                    <c:v/>
                  </c:pt>
                  <c:pt idx="83">
                    <c:v>7</c:v>
                  </c:pt>
                  <c:pt idx="84">
                    <c:v/>
                  </c:pt>
                  <c:pt idx="85">
                    <c:v/>
                  </c:pt>
                  <c:pt idx="86">
                    <c:v/>
                  </c:pt>
                  <c:pt idx="87">
                    <c:v/>
                  </c:pt>
                  <c:pt idx="88">
                    <c:v/>
                  </c:pt>
                  <c:pt idx="89">
                    <c:v/>
                  </c:pt>
                  <c:pt idx="90">
                    <c:v/>
                  </c:pt>
                  <c:pt idx="91">
                    <c:v/>
                  </c:pt>
                  <c:pt idx="92">
                    <c:v/>
                  </c:pt>
                  <c:pt idx="93">
                    <c:v/>
                  </c:pt>
                  <c:pt idx="94">
                    <c:v/>
                  </c:pt>
                  <c:pt idx="95">
                    <c:v>8</c:v>
                  </c:pt>
                  <c:pt idx="96">
                    <c:v/>
                  </c:pt>
                  <c:pt idx="97">
                    <c:v/>
                  </c:pt>
                  <c:pt idx="98">
                    <c:v/>
                  </c:pt>
                  <c:pt idx="99">
                    <c:v/>
                  </c:pt>
                  <c:pt idx="100">
                    <c:v/>
                  </c:pt>
                  <c:pt idx="101">
                    <c:v/>
                  </c:pt>
                  <c:pt idx="102">
                    <c:v/>
                  </c:pt>
                  <c:pt idx="103">
                    <c:v/>
                  </c:pt>
                  <c:pt idx="104">
                    <c:v/>
                  </c:pt>
                  <c:pt idx="105">
                    <c:v/>
                  </c:pt>
                  <c:pt idx="106">
                    <c:v/>
                  </c:pt>
                  <c:pt idx="107">
                    <c:v>9</c:v>
                  </c:pt>
                  <c:pt idx="108">
                    <c:v/>
                  </c:pt>
                  <c:pt idx="109">
                    <c:v/>
                  </c:pt>
                  <c:pt idx="110">
                    <c:v/>
                  </c:pt>
                  <c:pt idx="111">
                    <c:v/>
                  </c:pt>
                  <c:pt idx="112">
                    <c:v/>
                  </c:pt>
                  <c:pt idx="113">
                    <c:v/>
                  </c:pt>
                  <c:pt idx="114">
                    <c:v/>
                  </c:pt>
                  <c:pt idx="115">
                    <c:v/>
                  </c:pt>
                  <c:pt idx="116">
                    <c:v/>
                  </c:pt>
                  <c:pt idx="117">
                    <c:v/>
                  </c:pt>
                  <c:pt idx="118">
                    <c:v/>
                  </c:pt>
                  <c:pt idx="119">
                    <c:v>10</c:v>
                  </c:pt>
                </c:lvl>
              </c:multiLvlStrCache>
            </c:multiLvlStrRef>
          </c:cat>
          <c:val>
            <c:numRef>
              <c:f>Sheet1!$B$2:$B$121</c:f>
              <c:numCache>
                <c:formatCode>General</c:formatCode>
                <c:ptCount val="120"/>
                <c:pt idx="0">
                  <c:v>4158</c:v>
                </c:pt>
                <c:pt idx="1">
                  <c:v>6855</c:v>
                </c:pt>
                <c:pt idx="2">
                  <c:v>8796</c:v>
                </c:pt>
                <c:pt idx="3">
                  <c:v>8948</c:v>
                </c:pt>
                <c:pt idx="4">
                  <c:v>10894</c:v>
                </c:pt>
                <c:pt idx="5">
                  <c:v>20209</c:v>
                </c:pt>
                <c:pt idx="6">
                  <c:v>21711</c:v>
                </c:pt>
                <c:pt idx="7">
                  <c:v>22682</c:v>
                </c:pt>
                <c:pt idx="8">
                  <c:v>23658</c:v>
                </c:pt>
                <c:pt idx="9">
                  <c:v>24794</c:v>
                </c:pt>
                <c:pt idx="10">
                  <c:v>25359</c:v>
                </c:pt>
                <c:pt idx="11">
                  <c:v>26861</c:v>
                </c:pt>
                <c:pt idx="12">
                  <c:v>28381</c:v>
                </c:pt>
                <c:pt idx="13">
                  <c:v>29310</c:v>
                </c:pt>
                <c:pt idx="14">
                  <c:v>30264</c:v>
                </c:pt>
                <c:pt idx="15">
                  <c:v>31591</c:v>
                </c:pt>
                <c:pt idx="16">
                  <c:v>32739</c:v>
                </c:pt>
                <c:pt idx="17">
                  <c:v>34266</c:v>
                </c:pt>
                <c:pt idx="18">
                  <c:v>35395</c:v>
                </c:pt>
                <c:pt idx="19">
                  <c:v>36702</c:v>
                </c:pt>
                <c:pt idx="20">
                  <c:v>38205</c:v>
                </c:pt>
                <c:pt idx="21">
                  <c:v>39672</c:v>
                </c:pt>
                <c:pt idx="22">
                  <c:v>40940</c:v>
                </c:pt>
                <c:pt idx="23">
                  <c:v>42211</c:v>
                </c:pt>
                <c:pt idx="24">
                  <c:v>43651</c:v>
                </c:pt>
                <c:pt idx="25">
                  <c:v>45128</c:v>
                </c:pt>
                <c:pt idx="26">
                  <c:v>46394</c:v>
                </c:pt>
                <c:pt idx="27">
                  <c:v>47702</c:v>
                </c:pt>
                <c:pt idx="28">
                  <c:v>49204</c:v>
                </c:pt>
                <c:pt idx="29">
                  <c:v>50816</c:v>
                </c:pt>
                <c:pt idx="30">
                  <c:v>52216</c:v>
                </c:pt>
                <c:pt idx="31">
                  <c:v>53907</c:v>
                </c:pt>
                <c:pt idx="32">
                  <c:v>55567</c:v>
                </c:pt>
                <c:pt idx="33">
                  <c:v>57219</c:v>
                </c:pt>
                <c:pt idx="34">
                  <c:v>58392</c:v>
                </c:pt>
                <c:pt idx="35">
                  <c:v>59643</c:v>
                </c:pt>
                <c:pt idx="36">
                  <c:v>61263</c:v>
                </c:pt>
                <c:pt idx="37">
                  <c:v>62447</c:v>
                </c:pt>
                <c:pt idx="38">
                  <c:v>64144</c:v>
                </c:pt>
                <c:pt idx="39">
                  <c:v>65651</c:v>
                </c:pt>
                <c:pt idx="40">
                  <c:v>67315</c:v>
                </c:pt>
                <c:pt idx="41">
                  <c:v>68503</c:v>
                </c:pt>
                <c:pt idx="42">
                  <c:v>70017</c:v>
                </c:pt>
                <c:pt idx="43">
                  <c:v>71319</c:v>
                </c:pt>
                <c:pt idx="44">
                  <c:v>72877</c:v>
                </c:pt>
                <c:pt idx="45">
                  <c:v>74110</c:v>
                </c:pt>
                <c:pt idx="46">
                  <c:v>75519</c:v>
                </c:pt>
                <c:pt idx="47">
                  <c:v>77032</c:v>
                </c:pt>
                <c:pt idx="48">
                  <c:v>78667</c:v>
                </c:pt>
                <c:pt idx="49">
                  <c:v>80208</c:v>
                </c:pt>
                <c:pt idx="50">
                  <c:v>81983</c:v>
                </c:pt>
                <c:pt idx="51">
                  <c:v>83820</c:v>
                </c:pt>
                <c:pt idx="52">
                  <c:v>85580</c:v>
                </c:pt>
                <c:pt idx="53">
                  <c:v>86882</c:v>
                </c:pt>
                <c:pt idx="54">
                  <c:v>88521</c:v>
                </c:pt>
                <c:pt idx="55">
                  <c:v>89966</c:v>
                </c:pt>
                <c:pt idx="56">
                  <c:v>91633</c:v>
                </c:pt>
                <c:pt idx="57">
                  <c:v>92936</c:v>
                </c:pt>
                <c:pt idx="58">
                  <c:v>94768</c:v>
                </c:pt>
                <c:pt idx="59">
                  <c:v>96193</c:v>
                </c:pt>
                <c:pt idx="60">
                  <c:v>97884</c:v>
                </c:pt>
                <c:pt idx="61">
                  <c:v>99196</c:v>
                </c:pt>
                <c:pt idx="62">
                  <c:v>100849</c:v>
                </c:pt>
                <c:pt idx="63">
                  <c:v>102306</c:v>
                </c:pt>
                <c:pt idx="64">
                  <c:v>103965</c:v>
                </c:pt>
                <c:pt idx="65">
                  <c:v>105658</c:v>
                </c:pt>
                <c:pt idx="66">
                  <c:v>106751</c:v>
                </c:pt>
                <c:pt idx="67">
                  <c:v>108657</c:v>
                </c:pt>
                <c:pt idx="68">
                  <c:v>109886</c:v>
                </c:pt>
                <c:pt idx="69">
                  <c:v>111312</c:v>
                </c:pt>
                <c:pt idx="70">
                  <c:v>113069</c:v>
                </c:pt>
                <c:pt idx="71">
                  <c:v>114581</c:v>
                </c:pt>
                <c:pt idx="72">
                  <c:v>115919</c:v>
                </c:pt>
                <c:pt idx="73">
                  <c:v>117667</c:v>
                </c:pt>
                <c:pt idx="74">
                  <c:v>118914</c:v>
                </c:pt>
                <c:pt idx="75">
                  <c:v>120695</c:v>
                </c:pt>
                <c:pt idx="76">
                  <c:v>122129</c:v>
                </c:pt>
                <c:pt idx="77">
                  <c:v>123872</c:v>
                </c:pt>
                <c:pt idx="78">
                  <c:v>125750</c:v>
                </c:pt>
                <c:pt idx="79">
                  <c:v>127359</c:v>
                </c:pt>
                <c:pt idx="80">
                  <c:v>128717</c:v>
                </c:pt>
                <c:pt idx="81">
                  <c:v>130310</c:v>
                </c:pt>
                <c:pt idx="82">
                  <c:v>132241</c:v>
                </c:pt>
                <c:pt idx="83">
                  <c:v>134106</c:v>
                </c:pt>
                <c:pt idx="84">
                  <c:v>135906</c:v>
                </c:pt>
                <c:pt idx="85">
                  <c:v>137712</c:v>
                </c:pt>
                <c:pt idx="86">
                  <c:v>139289</c:v>
                </c:pt>
                <c:pt idx="87">
                  <c:v>141048</c:v>
                </c:pt>
                <c:pt idx="88">
                  <c:v>142941</c:v>
                </c:pt>
                <c:pt idx="89">
                  <c:v>144897</c:v>
                </c:pt>
                <c:pt idx="90">
                  <c:v>146374</c:v>
                </c:pt>
                <c:pt idx="91">
                  <c:v>148488</c:v>
                </c:pt>
                <c:pt idx="92">
                  <c:v>150273</c:v>
                </c:pt>
                <c:pt idx="93">
                  <c:v>151625</c:v>
                </c:pt>
                <c:pt idx="94">
                  <c:v>153553</c:v>
                </c:pt>
                <c:pt idx="95">
                  <c:v>155464</c:v>
                </c:pt>
                <c:pt idx="96">
                  <c:v>157077</c:v>
                </c:pt>
                <c:pt idx="97">
                  <c:v>159055</c:v>
                </c:pt>
                <c:pt idx="98">
                  <c:v>160870</c:v>
                </c:pt>
                <c:pt idx="99">
                  <c:v>162649</c:v>
                </c:pt>
                <c:pt idx="100">
                  <c:v>164325</c:v>
                </c:pt>
                <c:pt idx="101">
                  <c:v>165987</c:v>
                </c:pt>
                <c:pt idx="102">
                  <c:v>167762</c:v>
                </c:pt>
                <c:pt idx="103">
                  <c:v>169467</c:v>
                </c:pt>
                <c:pt idx="104">
                  <c:v>171366</c:v>
                </c:pt>
                <c:pt idx="105">
                  <c:v>173296</c:v>
                </c:pt>
                <c:pt idx="106">
                  <c:v>175168</c:v>
                </c:pt>
                <c:pt idx="107">
                  <c:v>176778</c:v>
                </c:pt>
                <c:pt idx="108">
                  <c:v>178865</c:v>
                </c:pt>
                <c:pt idx="109">
                  <c:v>180873</c:v>
                </c:pt>
                <c:pt idx="110">
                  <c:v>182735</c:v>
                </c:pt>
                <c:pt idx="111">
                  <c:v>184635</c:v>
                </c:pt>
                <c:pt idx="112">
                  <c:v>186597</c:v>
                </c:pt>
                <c:pt idx="113">
                  <c:v>188563</c:v>
                </c:pt>
                <c:pt idx="114">
                  <c:v>190653</c:v>
                </c:pt>
                <c:pt idx="115">
                  <c:v>192641</c:v>
                </c:pt>
                <c:pt idx="116">
                  <c:v>194152</c:v>
                </c:pt>
                <c:pt idx="117">
                  <c:v>196066</c:v>
                </c:pt>
                <c:pt idx="118">
                  <c:v>198037</c:v>
                </c:pt>
                <c:pt idx="119">
                  <c:v>199991</c:v>
                </c:pt>
              </c:numCache>
            </c:numRef>
          </c:val>
          <c:smooth val="0"/>
        </c:ser>
        <c:ser>
          <c:idx val="1"/>
          <c:order val="1"/>
          <c:tx>
            <c:strRef>
              <c:f>Sheet1!$C$1</c:f>
              <c:strCache>
                <c:ptCount val="1"/>
                <c:pt idx="0">
                  <c:v>SuMSy</c:v>
                </c:pt>
              </c:strCache>
            </c:strRef>
          </c:tx>
          <c:spPr>
            <a:solidFill>
              <a:srgbClr val="2A7F62"/>
            </a:solidFill>
            <a:ln w="38100" cap="flat">
              <a:solidFill>
                <a:srgbClr val="2A7F6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F62"/>
              </a:solidFill>
              <a:ln w="9525" cap="flat">
                <a:solidFill>
                  <a:srgbClr val="2A7F62"/>
                </a:solidFill>
                <a:prstDash val="solid"/>
                <a:round/>
              </a:ln>
              <a:effectLst/>
            </c:spPr>
          </c:marker>
          <c:cat>
            <c:multiLvlStrRef>
              <c:f>Sheet1!$A$2:$A$121</c:f>
              <c:multiLvlStrCache>
                <c:ptCount val="120"/>
                <c:lvl>
                  <c:pt idx="0">
                    <c:v/>
                  </c:pt>
                  <c:pt idx="1">
                    <c:v/>
                  </c:pt>
                  <c:pt idx="2">
                    <c:v/>
                  </c:pt>
                  <c:pt idx="3">
                    <c:v/>
                  </c:pt>
                  <c:pt idx="4">
                    <c:v/>
                  </c:pt>
                  <c:pt idx="5">
                    <c:v/>
                  </c:pt>
                  <c:pt idx="6">
                    <c:v/>
                  </c:pt>
                  <c:pt idx="7">
                    <c:v/>
                  </c:pt>
                  <c:pt idx="8">
                    <c:v/>
                  </c:pt>
                  <c:pt idx="9">
                    <c:v/>
                  </c:pt>
                  <c:pt idx="10">
                    <c:v/>
                  </c:pt>
                  <c:pt idx="11">
                    <c:v>1</c:v>
                  </c:pt>
                  <c:pt idx="12">
                    <c:v/>
                  </c:pt>
                  <c:pt idx="13">
                    <c:v/>
                  </c:pt>
                  <c:pt idx="14">
                    <c:v/>
                  </c:pt>
                  <c:pt idx="15">
                    <c:v/>
                  </c:pt>
                  <c:pt idx="16">
                    <c:v/>
                  </c:pt>
                  <c:pt idx="17">
                    <c:v/>
                  </c:pt>
                  <c:pt idx="18">
                    <c:v/>
                  </c:pt>
                  <c:pt idx="19">
                    <c:v/>
                  </c:pt>
                  <c:pt idx="20">
                    <c:v/>
                  </c:pt>
                  <c:pt idx="21">
                    <c:v/>
                  </c:pt>
                  <c:pt idx="22">
                    <c:v/>
                  </c:pt>
                  <c:pt idx="23">
                    <c:v>2</c:v>
                  </c:pt>
                  <c:pt idx="24">
                    <c:v/>
                  </c:pt>
                  <c:pt idx="25">
                    <c:v/>
                  </c:pt>
                  <c:pt idx="26">
                    <c:v/>
                  </c:pt>
                  <c:pt idx="27">
                    <c:v/>
                  </c:pt>
                  <c:pt idx="28">
                    <c:v/>
                  </c:pt>
                  <c:pt idx="29">
                    <c:v/>
                  </c:pt>
                  <c:pt idx="30">
                    <c:v/>
                  </c:pt>
                  <c:pt idx="31">
                    <c:v/>
                  </c:pt>
                  <c:pt idx="32">
                    <c:v/>
                  </c:pt>
                  <c:pt idx="33">
                    <c:v/>
                  </c:pt>
                  <c:pt idx="34">
                    <c:v/>
                  </c:pt>
                  <c:pt idx="35">
                    <c:v>3</c:v>
                  </c:pt>
                  <c:pt idx="36">
                    <c:v/>
                  </c:pt>
                  <c:pt idx="37">
                    <c:v/>
                  </c:pt>
                  <c:pt idx="38">
                    <c:v/>
                  </c:pt>
                  <c:pt idx="39">
                    <c:v/>
                  </c:pt>
                  <c:pt idx="40">
                    <c:v/>
                  </c:pt>
                  <c:pt idx="41">
                    <c:v/>
                  </c:pt>
                  <c:pt idx="42">
                    <c:v/>
                  </c:pt>
                  <c:pt idx="43">
                    <c:v/>
                  </c:pt>
                  <c:pt idx="44">
                    <c:v/>
                  </c:pt>
                  <c:pt idx="45">
                    <c:v/>
                  </c:pt>
                  <c:pt idx="46">
                    <c:v/>
                  </c:pt>
                  <c:pt idx="47">
                    <c:v>4</c:v>
                  </c:pt>
                  <c:pt idx="48">
                    <c:v/>
                  </c:pt>
                  <c:pt idx="49">
                    <c:v/>
                  </c:pt>
                  <c:pt idx="50">
                    <c:v/>
                  </c:pt>
                  <c:pt idx="51">
                    <c:v/>
                  </c:pt>
                  <c:pt idx="52">
                    <c:v/>
                  </c:pt>
                  <c:pt idx="53">
                    <c:v/>
                  </c:pt>
                  <c:pt idx="54">
                    <c:v/>
                  </c:pt>
                  <c:pt idx="55">
                    <c:v/>
                  </c:pt>
                  <c:pt idx="56">
                    <c:v/>
                  </c:pt>
                  <c:pt idx="57">
                    <c:v/>
                  </c:pt>
                  <c:pt idx="58">
                    <c:v/>
                  </c:pt>
                  <c:pt idx="59">
                    <c:v>5</c:v>
                  </c:pt>
                  <c:pt idx="60">
                    <c:v/>
                  </c:pt>
                  <c:pt idx="61">
                    <c:v/>
                  </c:pt>
                  <c:pt idx="62">
                    <c:v/>
                  </c:pt>
                  <c:pt idx="63">
                    <c:v/>
                  </c:pt>
                  <c:pt idx="64">
                    <c:v/>
                  </c:pt>
                  <c:pt idx="65">
                    <c:v/>
                  </c:pt>
                  <c:pt idx="66">
                    <c:v/>
                  </c:pt>
                  <c:pt idx="67">
                    <c:v/>
                  </c:pt>
                  <c:pt idx="68">
                    <c:v/>
                  </c:pt>
                  <c:pt idx="69">
                    <c:v/>
                  </c:pt>
                  <c:pt idx="70">
                    <c:v/>
                  </c:pt>
                  <c:pt idx="71">
                    <c:v>6</c:v>
                  </c:pt>
                  <c:pt idx="72">
                    <c:v/>
                  </c:pt>
                  <c:pt idx="73">
                    <c:v/>
                  </c:pt>
                  <c:pt idx="74">
                    <c:v/>
                  </c:pt>
                  <c:pt idx="75">
                    <c:v/>
                  </c:pt>
                  <c:pt idx="76">
                    <c:v/>
                  </c:pt>
                  <c:pt idx="77">
                    <c:v/>
                  </c:pt>
                  <c:pt idx="78">
                    <c:v/>
                  </c:pt>
                  <c:pt idx="79">
                    <c:v/>
                  </c:pt>
                  <c:pt idx="80">
                    <c:v/>
                  </c:pt>
                  <c:pt idx="81">
                    <c:v/>
                  </c:pt>
                  <c:pt idx="82">
                    <c:v/>
                  </c:pt>
                  <c:pt idx="83">
                    <c:v>7</c:v>
                  </c:pt>
                  <c:pt idx="84">
                    <c:v/>
                  </c:pt>
                  <c:pt idx="85">
                    <c:v/>
                  </c:pt>
                  <c:pt idx="86">
                    <c:v/>
                  </c:pt>
                  <c:pt idx="87">
                    <c:v/>
                  </c:pt>
                  <c:pt idx="88">
                    <c:v/>
                  </c:pt>
                  <c:pt idx="89">
                    <c:v/>
                  </c:pt>
                  <c:pt idx="90">
                    <c:v/>
                  </c:pt>
                  <c:pt idx="91">
                    <c:v/>
                  </c:pt>
                  <c:pt idx="92">
                    <c:v/>
                  </c:pt>
                  <c:pt idx="93">
                    <c:v/>
                  </c:pt>
                  <c:pt idx="94">
                    <c:v/>
                  </c:pt>
                  <c:pt idx="95">
                    <c:v>8</c:v>
                  </c:pt>
                  <c:pt idx="96">
                    <c:v/>
                  </c:pt>
                  <c:pt idx="97">
                    <c:v/>
                  </c:pt>
                  <c:pt idx="98">
                    <c:v/>
                  </c:pt>
                  <c:pt idx="99">
                    <c:v/>
                  </c:pt>
                  <c:pt idx="100">
                    <c:v/>
                  </c:pt>
                  <c:pt idx="101">
                    <c:v/>
                  </c:pt>
                  <c:pt idx="102">
                    <c:v/>
                  </c:pt>
                  <c:pt idx="103">
                    <c:v/>
                  </c:pt>
                  <c:pt idx="104">
                    <c:v/>
                  </c:pt>
                  <c:pt idx="105">
                    <c:v/>
                  </c:pt>
                  <c:pt idx="106">
                    <c:v/>
                  </c:pt>
                  <c:pt idx="107">
                    <c:v>9</c:v>
                  </c:pt>
                  <c:pt idx="108">
                    <c:v/>
                  </c:pt>
                  <c:pt idx="109">
                    <c:v/>
                  </c:pt>
                  <c:pt idx="110">
                    <c:v/>
                  </c:pt>
                  <c:pt idx="111">
                    <c:v/>
                  </c:pt>
                  <c:pt idx="112">
                    <c:v/>
                  </c:pt>
                  <c:pt idx="113">
                    <c:v/>
                  </c:pt>
                  <c:pt idx="114">
                    <c:v/>
                  </c:pt>
                  <c:pt idx="115">
                    <c:v/>
                  </c:pt>
                  <c:pt idx="116">
                    <c:v/>
                  </c:pt>
                  <c:pt idx="117">
                    <c:v/>
                  </c:pt>
                  <c:pt idx="118">
                    <c:v/>
                  </c:pt>
                  <c:pt idx="119">
                    <c:v>10</c:v>
                  </c:pt>
                </c:lvl>
              </c:multiLvlStrCache>
            </c:multiLvlStrRef>
          </c:cat>
          <c:val>
            <c:numRef>
              <c:f>Sheet1!$C$2:$C$121</c:f>
              <c:numCache>
                <c:formatCode>General</c:formatCode>
                <c:ptCount val="120"/>
                <c:pt idx="0">
                  <c:v>1806</c:v>
                </c:pt>
                <c:pt idx="1">
                  <c:v>3395</c:v>
                </c:pt>
                <c:pt idx="2">
                  <c:v>4718</c:v>
                </c:pt>
                <c:pt idx="3">
                  <c:v>4790</c:v>
                </c:pt>
                <c:pt idx="4">
                  <c:v>4836</c:v>
                </c:pt>
                <c:pt idx="5">
                  <c:v>4837</c:v>
                </c:pt>
                <c:pt idx="6">
                  <c:v>4832</c:v>
                </c:pt>
                <c:pt idx="7">
                  <c:v>4759</c:v>
                </c:pt>
                <c:pt idx="8">
                  <c:v>4651</c:v>
                </c:pt>
                <c:pt idx="9">
                  <c:v>4511</c:v>
                </c:pt>
                <c:pt idx="10">
                  <c:v>4352</c:v>
                </c:pt>
                <c:pt idx="11">
                  <c:v>4133</c:v>
                </c:pt>
                <c:pt idx="12">
                  <c:v>3892</c:v>
                </c:pt>
                <c:pt idx="13">
                  <c:v>3649</c:v>
                </c:pt>
                <c:pt idx="14">
                  <c:v>3406</c:v>
                </c:pt>
                <c:pt idx="15">
                  <c:v>3164</c:v>
                </c:pt>
                <c:pt idx="16">
                  <c:v>2921</c:v>
                </c:pt>
                <c:pt idx="17">
                  <c:v>2678</c:v>
                </c:pt>
                <c:pt idx="18">
                  <c:v>2435</c:v>
                </c:pt>
                <c:pt idx="19">
                  <c:v>2193</c:v>
                </c:pt>
                <c:pt idx="20">
                  <c:v>1950</c:v>
                </c:pt>
                <c:pt idx="21">
                  <c:v>1707</c:v>
                </c:pt>
                <c:pt idx="22">
                  <c:v>1465</c:v>
                </c:pt>
                <c:pt idx="23">
                  <c:v>1222</c:v>
                </c:pt>
                <c:pt idx="24">
                  <c:v>979</c:v>
                </c:pt>
                <c:pt idx="25">
                  <c:v>737</c:v>
                </c:pt>
                <c:pt idx="26">
                  <c:v>514</c:v>
                </c:pt>
                <c:pt idx="27">
                  <c:v>333</c:v>
                </c:pt>
                <c:pt idx="28">
                  <c:v>197</c:v>
                </c:pt>
                <c:pt idx="29">
                  <c:v>94</c:v>
                </c:pt>
                <c:pt idx="30">
                  <c:v>24</c:v>
                </c:pt>
                <c:pt idx="31">
                  <c:v>1</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A857C"/>
                    </a:solidFill>
                    <a:latin typeface="Arial"/>
                  </a:defRPr>
                </a:pPr>
                <a:r>
                  <a:rPr sz="1000" b="0" i="0" u="none" strike="noStrike">
                    <a:solidFill>
                      <a:srgbClr val="8A857C"/>
                    </a:solidFill>
                    <a:latin typeface="Arial"/>
                  </a:rPr>
                  <a:t>year</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8A857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DED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57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SuMSy</c:v>
                </c:pt>
              </c:strCache>
            </c:strRef>
          </c:tx>
          <c:spPr>
            <a:solidFill>
              <a:srgbClr val="2A7F62"/>
            </a:solidFill>
            <a:ln w="38100" cap="flat">
              <a:solidFill>
                <a:srgbClr val="2A7F6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F62"/>
              </a:solidFill>
              <a:ln w="9525" cap="flat">
                <a:solidFill>
                  <a:srgbClr val="2A7F62"/>
                </a:solidFill>
                <a:prstDash val="solid"/>
                <a:round/>
              </a:ln>
              <a:effectLst/>
            </c:spPr>
          </c:marker>
          <c:cat>
            <c:multiLvlStrRef>
              <c:f>Sheet1!$A$2:$A$121</c:f>
              <c:multiLvlStrCache>
                <c:ptCount val="120"/>
                <c:lvl>
                  <c:pt idx="0">
                    <c:v/>
                  </c:pt>
                  <c:pt idx="1">
                    <c:v/>
                  </c:pt>
                  <c:pt idx="2">
                    <c:v/>
                  </c:pt>
                  <c:pt idx="3">
                    <c:v/>
                  </c:pt>
                  <c:pt idx="4">
                    <c:v/>
                  </c:pt>
                  <c:pt idx="5">
                    <c:v/>
                  </c:pt>
                  <c:pt idx="6">
                    <c:v/>
                  </c:pt>
                  <c:pt idx="7">
                    <c:v/>
                  </c:pt>
                  <c:pt idx="8">
                    <c:v/>
                  </c:pt>
                  <c:pt idx="9">
                    <c:v/>
                  </c:pt>
                  <c:pt idx="10">
                    <c:v/>
                  </c:pt>
                  <c:pt idx="11">
                    <c:v>1</c:v>
                  </c:pt>
                  <c:pt idx="12">
                    <c:v/>
                  </c:pt>
                  <c:pt idx="13">
                    <c:v/>
                  </c:pt>
                  <c:pt idx="14">
                    <c:v/>
                  </c:pt>
                  <c:pt idx="15">
                    <c:v/>
                  </c:pt>
                  <c:pt idx="16">
                    <c:v/>
                  </c:pt>
                  <c:pt idx="17">
                    <c:v/>
                  </c:pt>
                  <c:pt idx="18">
                    <c:v/>
                  </c:pt>
                  <c:pt idx="19">
                    <c:v/>
                  </c:pt>
                  <c:pt idx="20">
                    <c:v/>
                  </c:pt>
                  <c:pt idx="21">
                    <c:v/>
                  </c:pt>
                  <c:pt idx="22">
                    <c:v/>
                  </c:pt>
                  <c:pt idx="23">
                    <c:v>2</c:v>
                  </c:pt>
                  <c:pt idx="24">
                    <c:v/>
                  </c:pt>
                  <c:pt idx="25">
                    <c:v/>
                  </c:pt>
                  <c:pt idx="26">
                    <c:v/>
                  </c:pt>
                  <c:pt idx="27">
                    <c:v/>
                  </c:pt>
                  <c:pt idx="28">
                    <c:v/>
                  </c:pt>
                  <c:pt idx="29">
                    <c:v/>
                  </c:pt>
                  <c:pt idx="30">
                    <c:v/>
                  </c:pt>
                  <c:pt idx="31">
                    <c:v/>
                  </c:pt>
                  <c:pt idx="32">
                    <c:v/>
                  </c:pt>
                  <c:pt idx="33">
                    <c:v/>
                  </c:pt>
                  <c:pt idx="34">
                    <c:v/>
                  </c:pt>
                  <c:pt idx="35">
                    <c:v>3</c:v>
                  </c:pt>
                  <c:pt idx="36">
                    <c:v/>
                  </c:pt>
                  <c:pt idx="37">
                    <c:v/>
                  </c:pt>
                  <c:pt idx="38">
                    <c:v/>
                  </c:pt>
                  <c:pt idx="39">
                    <c:v/>
                  </c:pt>
                  <c:pt idx="40">
                    <c:v/>
                  </c:pt>
                  <c:pt idx="41">
                    <c:v/>
                  </c:pt>
                  <c:pt idx="42">
                    <c:v/>
                  </c:pt>
                  <c:pt idx="43">
                    <c:v/>
                  </c:pt>
                  <c:pt idx="44">
                    <c:v/>
                  </c:pt>
                  <c:pt idx="45">
                    <c:v/>
                  </c:pt>
                  <c:pt idx="46">
                    <c:v/>
                  </c:pt>
                  <c:pt idx="47">
                    <c:v>4</c:v>
                  </c:pt>
                  <c:pt idx="48">
                    <c:v/>
                  </c:pt>
                  <c:pt idx="49">
                    <c:v/>
                  </c:pt>
                  <c:pt idx="50">
                    <c:v/>
                  </c:pt>
                  <c:pt idx="51">
                    <c:v/>
                  </c:pt>
                  <c:pt idx="52">
                    <c:v/>
                  </c:pt>
                  <c:pt idx="53">
                    <c:v/>
                  </c:pt>
                  <c:pt idx="54">
                    <c:v/>
                  </c:pt>
                  <c:pt idx="55">
                    <c:v/>
                  </c:pt>
                  <c:pt idx="56">
                    <c:v/>
                  </c:pt>
                  <c:pt idx="57">
                    <c:v/>
                  </c:pt>
                  <c:pt idx="58">
                    <c:v/>
                  </c:pt>
                  <c:pt idx="59">
                    <c:v>5</c:v>
                  </c:pt>
                  <c:pt idx="60">
                    <c:v/>
                  </c:pt>
                  <c:pt idx="61">
                    <c:v/>
                  </c:pt>
                  <c:pt idx="62">
                    <c:v/>
                  </c:pt>
                  <c:pt idx="63">
                    <c:v/>
                  </c:pt>
                  <c:pt idx="64">
                    <c:v/>
                  </c:pt>
                  <c:pt idx="65">
                    <c:v/>
                  </c:pt>
                  <c:pt idx="66">
                    <c:v/>
                  </c:pt>
                  <c:pt idx="67">
                    <c:v/>
                  </c:pt>
                  <c:pt idx="68">
                    <c:v/>
                  </c:pt>
                  <c:pt idx="69">
                    <c:v/>
                  </c:pt>
                  <c:pt idx="70">
                    <c:v/>
                  </c:pt>
                  <c:pt idx="71">
                    <c:v>6</c:v>
                  </c:pt>
                  <c:pt idx="72">
                    <c:v/>
                  </c:pt>
                  <c:pt idx="73">
                    <c:v/>
                  </c:pt>
                  <c:pt idx="74">
                    <c:v/>
                  </c:pt>
                  <c:pt idx="75">
                    <c:v/>
                  </c:pt>
                  <c:pt idx="76">
                    <c:v/>
                  </c:pt>
                  <c:pt idx="77">
                    <c:v/>
                  </c:pt>
                  <c:pt idx="78">
                    <c:v/>
                  </c:pt>
                  <c:pt idx="79">
                    <c:v/>
                  </c:pt>
                  <c:pt idx="80">
                    <c:v/>
                  </c:pt>
                  <c:pt idx="81">
                    <c:v/>
                  </c:pt>
                  <c:pt idx="82">
                    <c:v/>
                  </c:pt>
                  <c:pt idx="83">
                    <c:v>7</c:v>
                  </c:pt>
                  <c:pt idx="84">
                    <c:v/>
                  </c:pt>
                  <c:pt idx="85">
                    <c:v/>
                  </c:pt>
                  <c:pt idx="86">
                    <c:v/>
                  </c:pt>
                  <c:pt idx="87">
                    <c:v/>
                  </c:pt>
                  <c:pt idx="88">
                    <c:v/>
                  </c:pt>
                  <c:pt idx="89">
                    <c:v/>
                  </c:pt>
                  <c:pt idx="90">
                    <c:v/>
                  </c:pt>
                  <c:pt idx="91">
                    <c:v/>
                  </c:pt>
                  <c:pt idx="92">
                    <c:v/>
                  </c:pt>
                  <c:pt idx="93">
                    <c:v/>
                  </c:pt>
                  <c:pt idx="94">
                    <c:v/>
                  </c:pt>
                  <c:pt idx="95">
                    <c:v>8</c:v>
                  </c:pt>
                  <c:pt idx="96">
                    <c:v/>
                  </c:pt>
                  <c:pt idx="97">
                    <c:v/>
                  </c:pt>
                  <c:pt idx="98">
                    <c:v/>
                  </c:pt>
                  <c:pt idx="99">
                    <c:v/>
                  </c:pt>
                  <c:pt idx="100">
                    <c:v/>
                  </c:pt>
                  <c:pt idx="101">
                    <c:v/>
                  </c:pt>
                  <c:pt idx="102">
                    <c:v/>
                  </c:pt>
                  <c:pt idx="103">
                    <c:v/>
                  </c:pt>
                  <c:pt idx="104">
                    <c:v/>
                  </c:pt>
                  <c:pt idx="105">
                    <c:v/>
                  </c:pt>
                  <c:pt idx="106">
                    <c:v/>
                  </c:pt>
                  <c:pt idx="107">
                    <c:v>9</c:v>
                  </c:pt>
                  <c:pt idx="108">
                    <c:v/>
                  </c:pt>
                  <c:pt idx="109">
                    <c:v/>
                  </c:pt>
                  <c:pt idx="110">
                    <c:v/>
                  </c:pt>
                  <c:pt idx="111">
                    <c:v/>
                  </c:pt>
                  <c:pt idx="112">
                    <c:v/>
                  </c:pt>
                  <c:pt idx="113">
                    <c:v/>
                  </c:pt>
                  <c:pt idx="114">
                    <c:v/>
                  </c:pt>
                  <c:pt idx="115">
                    <c:v/>
                  </c:pt>
                  <c:pt idx="116">
                    <c:v/>
                  </c:pt>
                  <c:pt idx="117">
                    <c:v/>
                  </c:pt>
                  <c:pt idx="118">
                    <c:v/>
                  </c:pt>
                  <c:pt idx="119">
                    <c:v>10</c:v>
                  </c:pt>
                </c:lvl>
              </c:multiLvlStrCache>
            </c:multiLvlStrRef>
          </c:cat>
          <c:val>
            <c:numRef>
              <c:f>Sheet1!$B$2:$B$121</c:f>
              <c:numCache>
                <c:formatCode>General</c:formatCode>
                <c:ptCount val="120"/>
                <c:pt idx="0">
                  <c:v>1806</c:v>
                </c:pt>
                <c:pt idx="1">
                  <c:v>3395</c:v>
                </c:pt>
                <c:pt idx="2">
                  <c:v>4718</c:v>
                </c:pt>
                <c:pt idx="3">
                  <c:v>4790</c:v>
                </c:pt>
                <c:pt idx="4">
                  <c:v>4836</c:v>
                </c:pt>
                <c:pt idx="5">
                  <c:v>4837</c:v>
                </c:pt>
                <c:pt idx="6">
                  <c:v>4832</c:v>
                </c:pt>
                <c:pt idx="7">
                  <c:v>4759</c:v>
                </c:pt>
                <c:pt idx="8">
                  <c:v>4651</c:v>
                </c:pt>
                <c:pt idx="9">
                  <c:v>4511</c:v>
                </c:pt>
                <c:pt idx="10">
                  <c:v>4352</c:v>
                </c:pt>
                <c:pt idx="11">
                  <c:v>4133</c:v>
                </c:pt>
                <c:pt idx="12">
                  <c:v>3892</c:v>
                </c:pt>
                <c:pt idx="13">
                  <c:v>3649</c:v>
                </c:pt>
                <c:pt idx="14">
                  <c:v>3406</c:v>
                </c:pt>
                <c:pt idx="15">
                  <c:v>3164</c:v>
                </c:pt>
                <c:pt idx="16">
                  <c:v>2921</c:v>
                </c:pt>
                <c:pt idx="17">
                  <c:v>2678</c:v>
                </c:pt>
                <c:pt idx="18">
                  <c:v>2435</c:v>
                </c:pt>
                <c:pt idx="19">
                  <c:v>2193</c:v>
                </c:pt>
                <c:pt idx="20">
                  <c:v>1950</c:v>
                </c:pt>
                <c:pt idx="21">
                  <c:v>1707</c:v>
                </c:pt>
                <c:pt idx="22">
                  <c:v>1465</c:v>
                </c:pt>
                <c:pt idx="23">
                  <c:v>1222</c:v>
                </c:pt>
                <c:pt idx="24">
                  <c:v>979</c:v>
                </c:pt>
                <c:pt idx="25">
                  <c:v>737</c:v>
                </c:pt>
                <c:pt idx="26">
                  <c:v>514</c:v>
                </c:pt>
                <c:pt idx="27">
                  <c:v>333</c:v>
                </c:pt>
                <c:pt idx="28">
                  <c:v>197</c:v>
                </c:pt>
                <c:pt idx="29">
                  <c:v>94</c:v>
                </c:pt>
                <c:pt idx="30">
                  <c:v>24</c:v>
                </c:pt>
                <c:pt idx="31">
                  <c:v>1</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A857C"/>
                    </a:solidFill>
                    <a:latin typeface="Arial"/>
                  </a:defRPr>
                </a:pPr>
                <a:r>
                  <a:rPr sz="1000" b="0" i="0" u="none" strike="noStrike">
                    <a:solidFill>
                      <a:srgbClr val="8A857C"/>
                    </a:solidFill>
                    <a:latin typeface="Arial"/>
                  </a:rPr>
                  <a:t>year</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8A857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DED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57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Debt money</c:v>
                </c:pt>
              </c:strCache>
            </c:strRef>
          </c:tx>
          <c:spPr>
            <a:solidFill>
              <a:srgbClr val="B8541C"/>
            </a:solidFill>
            <a:effectLst/>
          </c:spPr>
          <c:invertIfNegative val="0"/>
          <c:dLbls>
            <c:numFmt formatCode="0" sourceLinked="0"/>
            <c:txPr>
              <a:bodyPr/>
              <a:lstStyle/>
              <a:p>
                <a:pPr>
                  <a:defRPr b="0" i="0" strike="noStrike" sz="1400" u="none">
                    <a:solidFill>
                      <a:srgbClr val="1F1D1A"/>
                    </a:solidFill>
                    <a:latin typeface="Arial"/>
                  </a:defRPr>
                </a:pPr>
              </a:p>
            </c:txPr>
            <c:showLegendKey val="0"/>
            <c:showVal val="1"/>
            <c:showCatName val="0"/>
            <c:showSerName val="0"/>
            <c:showPercent val="0"/>
            <c:showBubbleSize val="0"/>
            <c:showLeaderLines val="0"/>
          </c:dLbls>
          <c:cat>
            <c:multiLvlStrRef>
              <c:f>Sheet1!$A$2:$A$4</c:f>
              <c:multiLvlStrCache>
                <c:ptCount val="3"/>
                <c:lvl>
                  <c:pt idx="0">
                    <c:v>Shares, no land fee</c:v>
                  </c:pt>
                  <c:pt idx="1">
                    <c:v>Shares, land fee</c:v>
                  </c:pt>
                  <c:pt idx="2">
                    <c:v>Co-ops</c:v>
                  </c:pt>
                </c:lvl>
              </c:multiLvlStrCache>
            </c:multiLvlStrRef>
          </c:cat>
          <c:val>
            <c:numRef>
              <c:f>Sheet1!$B$2:$B$4</c:f>
              <c:numCache>
                <c:formatCode>General</c:formatCode>
                <c:ptCount val="3"/>
                <c:pt idx="0">
                  <c:v>496</c:v>
                </c:pt>
                <c:pt idx="1">
                  <c:v>570</c:v>
                </c:pt>
                <c:pt idx="2">
                  <c:v>468</c:v>
                </c:pt>
              </c:numCache>
            </c:numRef>
          </c:val>
        </c:ser>
        <c:ser>
          <c:idx val="1"/>
          <c:order val="1"/>
          <c:tx>
            <c:strRef>
              <c:f>Sheet1!$C$1</c:f>
              <c:strCache>
                <c:ptCount val="1"/>
                <c:pt idx="0">
                  <c:v>SuMSy</c:v>
                </c:pt>
              </c:strCache>
            </c:strRef>
          </c:tx>
          <c:spPr>
            <a:solidFill>
              <a:srgbClr val="2A7F62"/>
            </a:solidFill>
            <a:effectLst/>
          </c:spPr>
          <c:invertIfNegative val="0"/>
          <c:dLbls>
            <c:numFmt formatCode="0" sourceLinked="0"/>
            <c:txPr>
              <a:bodyPr/>
              <a:lstStyle/>
              <a:p>
                <a:pPr>
                  <a:defRPr b="0" i="0" strike="noStrike" sz="1400" u="none">
                    <a:solidFill>
                      <a:srgbClr val="1F1D1A"/>
                    </a:solidFill>
                    <a:latin typeface="Arial"/>
                  </a:defRPr>
                </a:pPr>
              </a:p>
            </c:txPr>
            <c:showLegendKey val="0"/>
            <c:showVal val="1"/>
            <c:showCatName val="0"/>
            <c:showSerName val="0"/>
            <c:showPercent val="0"/>
            <c:showBubbleSize val="0"/>
            <c:showLeaderLines val="0"/>
          </c:dLbls>
          <c:cat>
            <c:multiLvlStrRef>
              <c:f>Sheet1!$A$2:$A$4</c:f>
              <c:multiLvlStrCache>
                <c:ptCount val="3"/>
                <c:lvl>
                  <c:pt idx="0">
                    <c:v>Shares, no land fee</c:v>
                  </c:pt>
                  <c:pt idx="1">
                    <c:v>Shares, land fee</c:v>
                  </c:pt>
                  <c:pt idx="2">
                    <c:v>Co-ops</c:v>
                  </c:pt>
                </c:lvl>
              </c:multiLvlStrCache>
            </c:multiLvlStrRef>
          </c:cat>
          <c:val>
            <c:numRef>
              <c:f>Sheet1!$C$2:$C$4</c:f>
              <c:numCache>
                <c:formatCode>General</c:formatCode>
                <c:ptCount val="3"/>
                <c:pt idx="0">
                  <c:v>9997</c:v>
                </c:pt>
                <c:pt idx="1">
                  <c:v>242</c:v>
                </c:pt>
                <c:pt idx="2">
                  <c:v>166</c:v>
                </c:pt>
              </c:numCache>
            </c:numRef>
          </c:val>
        </c:ser>
        <c:dLbls>
          <c:numFmt formatCode="0" sourceLinked="0"/>
          <c:txPr>
            <a:bodyPr/>
            <a:lstStyle/>
            <a:p>
              <a:pPr>
                <a:defRPr b="0" i="0" strike="noStrike" sz="1400" u="none">
                  <a:solidFill>
                    <a:srgbClr val="1F1D1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1D1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village of 512 people. Fields, bakeries, theatres, two banks. Everyone needs two loaves a month; three months without bread, and you die. Now imagine I build it twice, identical, and change one thing: where the money comes from. Then I run each village for ten years, ten times over, and count who still has bread.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village money is what it is for us: it is born when a bank makes a loan, and every coin in your pocket is a coin someone else owes. In the second, everyone receives a fixed income every month — five units — and money that sits idle above a small cushion pays a parking fee: two percent a month simply disappears. Nobody owes anyone for it. That's the whole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switch everything on at once. Bare fields first. Then a government. A theatre. A stock market. Cooperatives. Taxes. One rung at a time, both villages, same rung, and at every rung: who is alive, what does bread cost, what does the government owe.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Bare fields, no government. In the debt village, fourteen people are left after ten years. There is no work for most of them, without work no money, without money no bread. In the SuMSy village almost everyone lives: five units a month is a meal. Same fields, same bakers. Only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government: public jobs and a bread allowance for the unemployed. Now almost everyone lives — and the government borrows half of what it spends, every month, for ten years, and never repays. Balance the books by taxing, and two hundred of five hundred and twelve are left. The debt village lives *because* its government goes into debt. And it can never get out: in that village, every coin in circulation is someone's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does — once. While the new money is still filling up the village, the parking tax brings in little, and the SuMSy government borrows its citizens' savings: about a month of guaranteed income per villager, at its worst in month six. Then it pays every unit back, by month thirty-three, in every run. A startup cost. One village repays; the other cannot. And from that step on, nobody in the SuMSy village is out of work — not one person, in ten years, in any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firms get owners, and shares that trade. Money in the SuMSy village had been spread almost evenly. With shares the gap between the richest tenth and the poorest tenth more than triples — from about 23 meals to 78. It stays far below the debt village's, where the gap is over 200 meals. So the money system does a lot, but ownership is the other half of the story. Cooperatives take the SuMSy gap back down to about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In the debt village a plot sells for thirty years of rent. In the SuMSy village, nobody sells — because money melts and land doesn't, so land becomes the thing to hold, and the rare sale goes for a fortune: seven hundred years of rent. Silvio Gesell saw this a century ago. The fix is a fee on land, paid out to everyone as a dividend: then land trades again, at four years of rent, the dividend is larger than the income itself, and the poorest tenth of the village hold sixteen meals instead of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did something unkind: I made everyone greedy. Spend every surplus, forever. The first time I ran it, the SuMSy village died — every run, every villager. It took three days to find out why, and it wasn't greed. The bakers planned on what their customers could afford instead of what they bought, and in a village where everyone has money, that meant buying three times the grain their ovens could bake. They went bankrupt with full storerooms while bread got cheaper. Fix the bakers' arithmetic and the greedy village feeds everyone, has the smallest gap of any village I built, and owes nothing. The debt village under the same greed lives too — on two hundred and thirty thousand of debt. The one thing that kills them both is panic: buyers who will pay double. No money survives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years, ten runs, twelve rungs. What it takes to survive: in the debt village, a government willing to be permanently in debt, and a third of the village without work at every step. In the SuMSy village, an income everyone gets, a fee on idle money that pays for the state, a fee on land paid out as a dividend — and a labour market that shares the work, or the income alone leaves people behind. In both: taxes that stay off bread — the one tax that killed the village was the tax on bread. And the open question I can't answer yet: what happens in the ten years when you switch from one money to the other. That's the next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a rule I chose, and every number comes from a run you can repeat: the code, the village and the report are public. I built one village and broke it a hundred ways. The question I'd leave you with isn't which money is better. It's this: every rule of money is a choice someone made. Which of them would you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D1A"/>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it takes to survive</a:t>
            </a:r>
            <a:endParaRPr lang="en-US" sz="4000" dirty="0"/>
          </a:p>
        </p:txBody>
      </p:sp>
      <p:pic>
        <p:nvPicPr>
          <p:cNvPr id="3" name="Image 0" descr="preencoded.png">    </p:cNvPr>
          <p:cNvPicPr>
            <a:picLocks noChangeAspect="1"/>
          </p:cNvPicPr>
          <p:nvPr/>
        </p:nvPicPr>
        <p:blipFill>
          <a:blip r:embed="rId1"/>
          <a:stretch>
            <a:fillRect/>
          </a:stretch>
        </p:blipFill>
        <p:spPr>
          <a:xfrm>
            <a:off x="457200" y="1508760"/>
            <a:ext cx="3931920" cy="1965960"/>
          </a:xfrm>
          <a:prstGeom prst="rect">
            <a:avLst/>
          </a:prstGeom>
        </p:spPr>
      </p:pic>
      <p:pic>
        <p:nvPicPr>
          <p:cNvPr id="4" name="Image 1" descr="preencoded.png">    </p:cNvPr>
          <p:cNvPicPr>
            <a:picLocks noChangeAspect="1"/>
          </p:cNvPicPr>
          <p:nvPr/>
        </p:nvPicPr>
        <p:blipFill>
          <a:blip r:embed="rId2"/>
          <a:stretch>
            <a:fillRect/>
          </a:stretch>
        </p:blipFill>
        <p:spPr>
          <a:xfrm>
            <a:off x="4754880" y="1508760"/>
            <a:ext cx="3931920" cy="1965960"/>
          </a:xfrm>
          <a:prstGeom prst="rect">
            <a:avLst/>
          </a:prstGeom>
        </p:spPr>
      </p:pic>
      <p:sp>
        <p:nvSpPr>
          <p:cNvPr id="5" name="Text 1"/>
          <p:cNvSpPr txBox="1"/>
          <p:nvPr/>
        </p:nvSpPr>
        <p:spPr>
          <a:xfrm>
            <a:off x="457200" y="3703320"/>
            <a:ext cx="3931920" cy="457200"/>
          </a:xfrm>
          <a:prstGeom prst="rect">
            <a:avLst/>
          </a:prstGeom>
          <a:noFill/>
          <a:ln/>
        </p:spPr>
        <p:txBody>
          <a:bodyPr wrap="square" lIns="0" tIns="0" rIns="0" bIns="0" rtlCol="0" anchor="ctr"/>
          <a:lstStyle/>
          <a:p>
            <a:pPr algn="ctr" indent="0" marL="0">
              <a:buNone/>
            </a:pPr>
            <a:r>
              <a:rPr lang="en-US" sz="2200" b="1" spc="400" kern="0" dirty="0">
                <a:solidFill>
                  <a:srgbClr val="B8541C"/>
                </a:solidFill>
                <a:latin typeface="Calibri" pitchFamily="34" charset="0"/>
                <a:ea typeface="Calibri" pitchFamily="34" charset="-122"/>
                <a:cs typeface="Calibri" pitchFamily="34" charset="-120"/>
              </a:rPr>
              <a:t>DEBT</a:t>
            </a:r>
            <a:endParaRPr lang="en-US" sz="2200" dirty="0"/>
          </a:p>
        </p:txBody>
      </p:sp>
      <p:sp>
        <p:nvSpPr>
          <p:cNvPr id="6" name="Text 2"/>
          <p:cNvSpPr txBox="1"/>
          <p:nvPr/>
        </p:nvSpPr>
        <p:spPr>
          <a:xfrm>
            <a:off x="4754880" y="3703320"/>
            <a:ext cx="3931920" cy="457200"/>
          </a:xfrm>
          <a:prstGeom prst="rect">
            <a:avLst/>
          </a:prstGeom>
          <a:noFill/>
          <a:ln/>
        </p:spPr>
        <p:txBody>
          <a:bodyPr wrap="square" lIns="0" tIns="0" rIns="0" bIns="0" rtlCol="0" anchor="ctr"/>
          <a:lstStyle/>
          <a:p>
            <a:pPr algn="ctr" indent="0" marL="0">
              <a:buNone/>
            </a:pPr>
            <a:r>
              <a:rPr lang="en-US" sz="2200" b="1" spc="400" kern="0" dirty="0">
                <a:solidFill>
                  <a:srgbClr val="2A7F62"/>
                </a:solidFill>
                <a:latin typeface="Calibri" pitchFamily="34" charset="0"/>
                <a:ea typeface="Calibri" pitchFamily="34" charset="-122"/>
                <a:cs typeface="Calibri" pitchFamily="34" charset="-120"/>
              </a:rPr>
              <a:t>SUMSY</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88720" y="822960"/>
            <a:ext cx="1463040" cy="1463040"/>
          </a:xfrm>
          <a:prstGeom prst="rect">
            <a:avLst/>
          </a:prstGeom>
        </p:spPr>
      </p:pic>
      <p:pic>
        <p:nvPicPr>
          <p:cNvPr id="3" name="Image 1" descr="preencoded.png">    </p:cNvPr>
          <p:cNvPicPr>
            <a:picLocks noChangeAspect="1"/>
          </p:cNvPicPr>
          <p:nvPr/>
        </p:nvPicPr>
        <p:blipFill>
          <a:blip r:embed="rId2"/>
          <a:stretch>
            <a:fillRect/>
          </a:stretch>
        </p:blipFill>
        <p:spPr>
          <a:xfrm>
            <a:off x="2651760" y="1554480"/>
            <a:ext cx="914400" cy="914400"/>
          </a:xfrm>
          <a:prstGeom prst="rect">
            <a:avLst/>
          </a:prstGeom>
        </p:spPr>
      </p:pic>
      <p:pic>
        <p:nvPicPr>
          <p:cNvPr id="4" name="Image 2" descr="preencoded.png">    </p:cNvPr>
          <p:cNvPicPr>
            <a:picLocks noChangeAspect="1"/>
          </p:cNvPicPr>
          <p:nvPr/>
        </p:nvPicPr>
        <p:blipFill>
          <a:blip r:embed="rId3"/>
          <a:stretch>
            <a:fillRect/>
          </a:stretch>
        </p:blipFill>
        <p:spPr>
          <a:xfrm>
            <a:off x="5303520" y="822960"/>
            <a:ext cx="1463040" cy="1463040"/>
          </a:xfrm>
          <a:prstGeom prst="rect">
            <a:avLst/>
          </a:prstGeom>
        </p:spPr>
      </p:pic>
      <p:pic>
        <p:nvPicPr>
          <p:cNvPr id="5" name="Image 3" descr="preencoded.png">    </p:cNvPr>
          <p:cNvPicPr>
            <a:picLocks noChangeAspect="1"/>
          </p:cNvPicPr>
          <p:nvPr/>
        </p:nvPicPr>
        <p:blipFill>
          <a:blip r:embed="rId4"/>
          <a:stretch>
            <a:fillRect/>
          </a:stretch>
        </p:blipFill>
        <p:spPr>
          <a:xfrm>
            <a:off x="6766560" y="1554480"/>
            <a:ext cx="914400" cy="914400"/>
          </a:xfrm>
          <a:prstGeom prst="rect">
            <a:avLst/>
          </a:prstGeom>
        </p:spPr>
      </p:pic>
      <p:sp>
        <p:nvSpPr>
          <p:cNvPr id="6" name="Text 0"/>
          <p:cNvSpPr txBox="1"/>
          <p:nvPr/>
        </p:nvSpPr>
        <p:spPr>
          <a:xfrm>
            <a:off x="548640" y="2926080"/>
            <a:ext cx="3840480" cy="640080"/>
          </a:xfrm>
          <a:prstGeom prst="rect">
            <a:avLst/>
          </a:prstGeom>
          <a:noFill/>
          <a:ln/>
        </p:spPr>
        <p:txBody>
          <a:bodyPr wrap="square" lIns="0" tIns="0" rIns="0" bIns="0" rtlCol="0" anchor="ctr"/>
          <a:lstStyle/>
          <a:p>
            <a:pPr algn="ctr" indent="0" marL="0">
              <a:buNone/>
            </a:pPr>
            <a:r>
              <a:rPr lang="en-US" sz="2800" b="1" dirty="0">
                <a:solidFill>
                  <a:srgbClr val="B8541C"/>
                </a:solidFill>
                <a:latin typeface="Cambria" pitchFamily="34" charset="0"/>
                <a:ea typeface="Cambria" pitchFamily="34" charset="-122"/>
                <a:cs typeface="Cambria" pitchFamily="34" charset="-120"/>
              </a:rPr>
              <a:t>Borrowed into being</a:t>
            </a:r>
            <a:endParaRPr lang="en-US" sz="2800" dirty="0"/>
          </a:p>
        </p:txBody>
      </p:sp>
      <p:sp>
        <p:nvSpPr>
          <p:cNvPr id="7" name="Text 1"/>
          <p:cNvSpPr txBox="1"/>
          <p:nvPr/>
        </p:nvSpPr>
        <p:spPr>
          <a:xfrm>
            <a:off x="4754880" y="2926080"/>
            <a:ext cx="3840480" cy="640080"/>
          </a:xfrm>
          <a:prstGeom prst="rect">
            <a:avLst/>
          </a:prstGeom>
          <a:noFill/>
          <a:ln/>
        </p:spPr>
        <p:txBody>
          <a:bodyPr wrap="square" lIns="0" tIns="0" rIns="0" bIns="0" rtlCol="0" anchor="ctr"/>
          <a:lstStyle/>
          <a:p>
            <a:pPr algn="ctr" indent="0" marL="0">
              <a:buNone/>
            </a:pPr>
            <a:r>
              <a:rPr lang="en-US" sz="2800" b="1" dirty="0">
                <a:solidFill>
                  <a:srgbClr val="2A7F62"/>
                </a:solidFill>
                <a:latin typeface="Cambria" pitchFamily="34" charset="0"/>
                <a:ea typeface="Cambria" pitchFamily="34" charset="-122"/>
                <a:cs typeface="Cambria" pitchFamily="34" charset="-120"/>
              </a:rPr>
              <a:t>Paid to everyone</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365760"/>
            <a:ext cx="73152" cy="4434840"/>
          </a:xfrm>
          <a:prstGeom prst="rect">
            <a:avLst/>
          </a:prstGeom>
          <a:solidFill>
            <a:srgbClr val="CFC8BB"/>
          </a:solidFill>
          <a:ln w="12700">
            <a:solidFill>
              <a:srgbClr val="CFC8BB"/>
            </a:solidFill>
            <a:prstDash val="solid"/>
          </a:ln>
        </p:spPr>
      </p:sp>
      <p:sp>
        <p:nvSpPr>
          <p:cNvPr id="3" name="Shape 1"/>
          <p:cNvSpPr/>
          <p:nvPr/>
        </p:nvSpPr>
        <p:spPr>
          <a:xfrm>
            <a:off x="2103120" y="365760"/>
            <a:ext cx="73152" cy="4434840"/>
          </a:xfrm>
          <a:prstGeom prst="rect">
            <a:avLst/>
          </a:prstGeom>
          <a:solidFill>
            <a:srgbClr val="CFC8BB"/>
          </a:solidFill>
          <a:ln w="12700">
            <a:solidFill>
              <a:srgbClr val="CFC8BB"/>
            </a:solidFill>
            <a:prstDash val="solid"/>
          </a:ln>
        </p:spPr>
      </p:sp>
      <p:sp>
        <p:nvSpPr>
          <p:cNvPr id="4" name="Shape 2"/>
          <p:cNvSpPr/>
          <p:nvPr/>
        </p:nvSpPr>
        <p:spPr>
          <a:xfrm>
            <a:off x="914400" y="4403408"/>
            <a:ext cx="1261872" cy="54864"/>
          </a:xfrm>
          <a:prstGeom prst="rect">
            <a:avLst/>
          </a:prstGeom>
          <a:solidFill>
            <a:srgbClr val="CFC8BB"/>
          </a:solidFill>
          <a:ln w="12700">
            <a:solidFill>
              <a:srgbClr val="CFC8BB"/>
            </a:solidFill>
            <a:prstDash val="solid"/>
          </a:ln>
        </p:spPr>
      </p:sp>
      <p:pic>
        <p:nvPicPr>
          <p:cNvPr id="5" name="Image 0" descr="preencoded.png">    </p:cNvPr>
          <p:cNvPicPr>
            <a:picLocks noChangeAspect="1"/>
          </p:cNvPicPr>
          <p:nvPr/>
        </p:nvPicPr>
        <p:blipFill>
          <a:blip r:embed="rId1"/>
          <a:stretch>
            <a:fillRect/>
          </a:stretch>
        </p:blipFill>
        <p:spPr>
          <a:xfrm>
            <a:off x="2514600" y="4220528"/>
            <a:ext cx="384048" cy="384048"/>
          </a:xfrm>
          <a:prstGeom prst="rect">
            <a:avLst/>
          </a:prstGeom>
        </p:spPr>
      </p:pic>
      <p:sp>
        <p:nvSpPr>
          <p:cNvPr id="6" name="Shape 3"/>
          <p:cNvSpPr/>
          <p:nvPr/>
        </p:nvSpPr>
        <p:spPr>
          <a:xfrm>
            <a:off x="914400" y="3883342"/>
            <a:ext cx="1261872" cy="54864"/>
          </a:xfrm>
          <a:prstGeom prst="rect">
            <a:avLst/>
          </a:prstGeom>
          <a:solidFill>
            <a:srgbClr val="CFC8BB"/>
          </a:solidFill>
          <a:ln w="12700">
            <a:solidFill>
              <a:srgbClr val="CFC8BB"/>
            </a:solidFill>
            <a:prstDash val="solid"/>
          </a:ln>
        </p:spPr>
      </p:sp>
      <p:pic>
        <p:nvPicPr>
          <p:cNvPr id="7" name="Image 1" descr="preencoded.png">    </p:cNvPr>
          <p:cNvPicPr>
            <a:picLocks noChangeAspect="1"/>
          </p:cNvPicPr>
          <p:nvPr/>
        </p:nvPicPr>
        <p:blipFill>
          <a:blip r:embed="rId2"/>
          <a:stretch>
            <a:fillRect/>
          </a:stretch>
        </p:blipFill>
        <p:spPr>
          <a:xfrm>
            <a:off x="2514600" y="3700462"/>
            <a:ext cx="384048" cy="384048"/>
          </a:xfrm>
          <a:prstGeom prst="rect">
            <a:avLst/>
          </a:prstGeom>
        </p:spPr>
      </p:pic>
      <p:sp>
        <p:nvSpPr>
          <p:cNvPr id="8" name="Shape 4"/>
          <p:cNvSpPr/>
          <p:nvPr/>
        </p:nvSpPr>
        <p:spPr>
          <a:xfrm>
            <a:off x="914400" y="3363277"/>
            <a:ext cx="1261872" cy="54864"/>
          </a:xfrm>
          <a:prstGeom prst="rect">
            <a:avLst/>
          </a:prstGeom>
          <a:solidFill>
            <a:srgbClr val="CFC8BB"/>
          </a:solidFill>
          <a:ln w="12700">
            <a:solidFill>
              <a:srgbClr val="CFC8BB"/>
            </a:solidFill>
            <a:prstDash val="solid"/>
          </a:ln>
        </p:spPr>
      </p:sp>
      <p:pic>
        <p:nvPicPr>
          <p:cNvPr id="9" name="Image 2" descr="preencoded.png">    </p:cNvPr>
          <p:cNvPicPr>
            <a:picLocks noChangeAspect="1"/>
          </p:cNvPicPr>
          <p:nvPr/>
        </p:nvPicPr>
        <p:blipFill>
          <a:blip r:embed="rId3"/>
          <a:stretch>
            <a:fillRect/>
          </a:stretch>
        </p:blipFill>
        <p:spPr>
          <a:xfrm>
            <a:off x="2514600" y="3180397"/>
            <a:ext cx="384048" cy="384048"/>
          </a:xfrm>
          <a:prstGeom prst="rect">
            <a:avLst/>
          </a:prstGeom>
        </p:spPr>
      </p:pic>
      <p:sp>
        <p:nvSpPr>
          <p:cNvPr id="10" name="Shape 5"/>
          <p:cNvSpPr/>
          <p:nvPr/>
        </p:nvSpPr>
        <p:spPr>
          <a:xfrm>
            <a:off x="914400" y="2843213"/>
            <a:ext cx="1261872" cy="54864"/>
          </a:xfrm>
          <a:prstGeom prst="rect">
            <a:avLst/>
          </a:prstGeom>
          <a:solidFill>
            <a:srgbClr val="CFC8BB"/>
          </a:solidFill>
          <a:ln w="12700">
            <a:solidFill>
              <a:srgbClr val="CFC8BB"/>
            </a:solidFill>
            <a:prstDash val="solid"/>
          </a:ln>
        </p:spPr>
      </p:sp>
      <p:pic>
        <p:nvPicPr>
          <p:cNvPr id="11" name="Image 3" descr="preencoded.png">    </p:cNvPr>
          <p:cNvPicPr>
            <a:picLocks noChangeAspect="1"/>
          </p:cNvPicPr>
          <p:nvPr/>
        </p:nvPicPr>
        <p:blipFill>
          <a:blip r:embed="rId4"/>
          <a:stretch>
            <a:fillRect/>
          </a:stretch>
        </p:blipFill>
        <p:spPr>
          <a:xfrm>
            <a:off x="2514600" y="2660333"/>
            <a:ext cx="384048" cy="384048"/>
          </a:xfrm>
          <a:prstGeom prst="rect">
            <a:avLst/>
          </a:prstGeom>
        </p:spPr>
      </p:pic>
      <p:sp>
        <p:nvSpPr>
          <p:cNvPr id="12" name="Shape 6"/>
          <p:cNvSpPr/>
          <p:nvPr/>
        </p:nvSpPr>
        <p:spPr>
          <a:xfrm>
            <a:off x="914400" y="2323148"/>
            <a:ext cx="1261872" cy="54864"/>
          </a:xfrm>
          <a:prstGeom prst="rect">
            <a:avLst/>
          </a:prstGeom>
          <a:solidFill>
            <a:srgbClr val="CFC8BB"/>
          </a:solidFill>
          <a:ln w="12700">
            <a:solidFill>
              <a:srgbClr val="CFC8BB"/>
            </a:solidFill>
            <a:prstDash val="solid"/>
          </a:ln>
        </p:spPr>
      </p:sp>
      <p:pic>
        <p:nvPicPr>
          <p:cNvPr id="13" name="Image 4" descr="preencoded.png">    </p:cNvPr>
          <p:cNvPicPr>
            <a:picLocks noChangeAspect="1"/>
          </p:cNvPicPr>
          <p:nvPr/>
        </p:nvPicPr>
        <p:blipFill>
          <a:blip r:embed="rId5"/>
          <a:stretch>
            <a:fillRect/>
          </a:stretch>
        </p:blipFill>
        <p:spPr>
          <a:xfrm>
            <a:off x="2514600" y="2140267"/>
            <a:ext cx="384048" cy="384048"/>
          </a:xfrm>
          <a:prstGeom prst="rect">
            <a:avLst/>
          </a:prstGeom>
        </p:spPr>
      </p:pic>
      <p:sp>
        <p:nvSpPr>
          <p:cNvPr id="14" name="Shape 7"/>
          <p:cNvSpPr/>
          <p:nvPr/>
        </p:nvSpPr>
        <p:spPr>
          <a:xfrm>
            <a:off x="914400" y="1803082"/>
            <a:ext cx="1261872" cy="54864"/>
          </a:xfrm>
          <a:prstGeom prst="rect">
            <a:avLst/>
          </a:prstGeom>
          <a:solidFill>
            <a:srgbClr val="CFC8BB"/>
          </a:solidFill>
          <a:ln w="12700">
            <a:solidFill>
              <a:srgbClr val="CFC8BB"/>
            </a:solidFill>
            <a:prstDash val="solid"/>
          </a:ln>
        </p:spPr>
      </p:sp>
      <p:pic>
        <p:nvPicPr>
          <p:cNvPr id="15" name="Image 5" descr="preencoded.png">    </p:cNvPr>
          <p:cNvPicPr>
            <a:picLocks noChangeAspect="1"/>
          </p:cNvPicPr>
          <p:nvPr/>
        </p:nvPicPr>
        <p:blipFill>
          <a:blip r:embed="rId6"/>
          <a:stretch>
            <a:fillRect/>
          </a:stretch>
        </p:blipFill>
        <p:spPr>
          <a:xfrm>
            <a:off x="2514600" y="1620202"/>
            <a:ext cx="384048" cy="384048"/>
          </a:xfrm>
          <a:prstGeom prst="rect">
            <a:avLst/>
          </a:prstGeom>
        </p:spPr>
      </p:pic>
      <p:sp>
        <p:nvSpPr>
          <p:cNvPr id="16" name="Shape 8"/>
          <p:cNvSpPr/>
          <p:nvPr/>
        </p:nvSpPr>
        <p:spPr>
          <a:xfrm>
            <a:off x="914400" y="1283017"/>
            <a:ext cx="1261872" cy="54864"/>
          </a:xfrm>
          <a:prstGeom prst="rect">
            <a:avLst/>
          </a:prstGeom>
          <a:solidFill>
            <a:srgbClr val="CFC8BB"/>
          </a:solidFill>
          <a:ln w="12700">
            <a:solidFill>
              <a:srgbClr val="CFC8BB"/>
            </a:solidFill>
            <a:prstDash val="solid"/>
          </a:ln>
        </p:spPr>
      </p:sp>
      <p:pic>
        <p:nvPicPr>
          <p:cNvPr id="17" name="Image 6" descr="preencoded.png">    </p:cNvPr>
          <p:cNvPicPr>
            <a:picLocks noChangeAspect="1"/>
          </p:cNvPicPr>
          <p:nvPr/>
        </p:nvPicPr>
        <p:blipFill>
          <a:blip r:embed="rId7"/>
          <a:stretch>
            <a:fillRect/>
          </a:stretch>
        </p:blipFill>
        <p:spPr>
          <a:xfrm>
            <a:off x="2514600" y="1100137"/>
            <a:ext cx="384048" cy="384048"/>
          </a:xfrm>
          <a:prstGeom prst="rect">
            <a:avLst/>
          </a:prstGeom>
        </p:spPr>
      </p:pic>
      <p:sp>
        <p:nvSpPr>
          <p:cNvPr id="18" name="Shape 9"/>
          <p:cNvSpPr/>
          <p:nvPr/>
        </p:nvSpPr>
        <p:spPr>
          <a:xfrm>
            <a:off x="914400" y="762952"/>
            <a:ext cx="1261872" cy="54864"/>
          </a:xfrm>
          <a:prstGeom prst="rect">
            <a:avLst/>
          </a:prstGeom>
          <a:solidFill>
            <a:srgbClr val="CFC8BB"/>
          </a:solidFill>
          <a:ln w="12700">
            <a:solidFill>
              <a:srgbClr val="CFC8BB"/>
            </a:solidFill>
            <a:prstDash val="solid"/>
          </a:ln>
        </p:spPr>
      </p:sp>
      <p:pic>
        <p:nvPicPr>
          <p:cNvPr id="19" name="Image 7" descr="preencoded.png">    </p:cNvPr>
          <p:cNvPicPr>
            <a:picLocks noChangeAspect="1"/>
          </p:cNvPicPr>
          <p:nvPr/>
        </p:nvPicPr>
        <p:blipFill>
          <a:blip r:embed="rId8"/>
          <a:stretch>
            <a:fillRect/>
          </a:stretch>
        </p:blipFill>
        <p:spPr>
          <a:xfrm>
            <a:off x="2514600" y="580072"/>
            <a:ext cx="384048" cy="384048"/>
          </a:xfrm>
          <a:prstGeom prst="rect">
            <a:avLst/>
          </a:prstGeom>
        </p:spPr>
      </p:pic>
      <p:sp>
        <p:nvSpPr>
          <p:cNvPr id="20" name="Text 10"/>
          <p:cNvSpPr txBox="1"/>
          <p:nvPr/>
        </p:nvSpPr>
        <p:spPr>
          <a:xfrm>
            <a:off x="3840480" y="2103120"/>
            <a:ext cx="4846320" cy="822960"/>
          </a:xfrm>
          <a:prstGeom prst="rect">
            <a:avLst/>
          </a:prstGeom>
          <a:noFill/>
          <a:ln/>
        </p:spPr>
        <p:txBody>
          <a:bodyPr wrap="square" lIns="0" tIns="0" rIns="0" bIns="0" rtlCol="0" anchor="ctr"/>
          <a:lstStyle/>
          <a:p>
            <a:pPr indent="0" marL="0">
              <a:buNone/>
            </a:pPr>
            <a:r>
              <a:rPr lang="en-US" sz="4000" b="1" dirty="0">
                <a:solidFill>
                  <a:srgbClr val="1F1D1A"/>
                </a:solidFill>
                <a:latin typeface="Cambria" pitchFamily="34" charset="0"/>
                <a:ea typeface="Cambria" pitchFamily="34" charset="-122"/>
                <a:cs typeface="Cambria" pitchFamily="34" charset="-120"/>
              </a:rPr>
              <a:t>One rung at a time</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1F1D1A"/>
                </a:solidFill>
                <a:latin typeface="Cambria" pitchFamily="34" charset="0"/>
                <a:ea typeface="Cambria" pitchFamily="34" charset="-122"/>
                <a:cs typeface="Cambria" pitchFamily="34" charset="-120"/>
              </a:rPr>
              <a:t>No government</a:t>
            </a:r>
            <a:endParaRPr lang="en-US" sz="3600" dirty="0"/>
          </a:p>
        </p:txBody>
      </p:sp>
      <p:pic>
        <p:nvPicPr>
          <p:cNvPr id="3" name="Image 0" descr="preencoded.png">    </p:cNvPr>
          <p:cNvPicPr>
            <a:picLocks noChangeAspect="1"/>
          </p:cNvPicPr>
          <p:nvPr/>
        </p:nvPicPr>
        <p:blipFill>
          <a:blip r:embed="rId1"/>
          <a:stretch>
            <a:fillRect/>
          </a:stretch>
        </p:blipFill>
        <p:spPr>
          <a:xfrm>
            <a:off x="457200" y="1325880"/>
            <a:ext cx="3931920" cy="1965960"/>
          </a:xfrm>
          <a:prstGeom prst="rect">
            <a:avLst/>
          </a:prstGeom>
        </p:spPr>
      </p:pic>
      <p:pic>
        <p:nvPicPr>
          <p:cNvPr id="4" name="Image 1" descr="preencoded.png">    </p:cNvPr>
          <p:cNvPicPr>
            <a:picLocks noChangeAspect="1"/>
          </p:cNvPicPr>
          <p:nvPr/>
        </p:nvPicPr>
        <p:blipFill>
          <a:blip r:embed="rId2"/>
          <a:stretch>
            <a:fillRect/>
          </a:stretch>
        </p:blipFill>
        <p:spPr>
          <a:xfrm>
            <a:off x="4754880" y="1325880"/>
            <a:ext cx="3931920" cy="1965960"/>
          </a:xfrm>
          <a:prstGeom prst="rect">
            <a:avLst/>
          </a:prstGeom>
        </p:spPr>
      </p:pic>
      <p:sp>
        <p:nvSpPr>
          <p:cNvPr id="5" name="Text 1"/>
          <p:cNvSpPr txBox="1"/>
          <p:nvPr/>
        </p:nvSpPr>
        <p:spPr>
          <a:xfrm>
            <a:off x="457200" y="3520440"/>
            <a:ext cx="3931920" cy="914400"/>
          </a:xfrm>
          <a:prstGeom prst="rect">
            <a:avLst/>
          </a:prstGeom>
          <a:noFill/>
          <a:ln/>
        </p:spPr>
        <p:txBody>
          <a:bodyPr wrap="square" lIns="0" tIns="0" rIns="0" bIns="0" rtlCol="0" anchor="ctr"/>
          <a:lstStyle/>
          <a:p>
            <a:pPr indent="0" marL="0">
              <a:buNone/>
            </a:pPr>
            <a:r>
              <a:rPr lang="en-US" sz="6000" b="1" dirty="0">
                <a:solidFill>
                  <a:srgbClr val="B8541C"/>
                </a:solidFill>
                <a:latin typeface="Cambria" pitchFamily="34" charset="0"/>
                <a:ea typeface="Cambria" pitchFamily="34" charset="-122"/>
                <a:cs typeface="Cambria" pitchFamily="34" charset="-120"/>
              </a:rPr>
              <a:t>158</a:t>
            </a:r>
            <a:endParaRPr lang="en-US" sz="6000" dirty="0"/>
          </a:p>
        </p:txBody>
      </p:sp>
      <p:sp>
        <p:nvSpPr>
          <p:cNvPr id="6" name="Text 2"/>
          <p:cNvSpPr txBox="1"/>
          <p:nvPr/>
        </p:nvSpPr>
        <p:spPr>
          <a:xfrm>
            <a:off x="4754880" y="3520440"/>
            <a:ext cx="3931920" cy="914400"/>
          </a:xfrm>
          <a:prstGeom prst="rect">
            <a:avLst/>
          </a:prstGeom>
          <a:noFill/>
          <a:ln/>
        </p:spPr>
        <p:txBody>
          <a:bodyPr wrap="square" lIns="0" tIns="0" rIns="0" bIns="0" rtlCol="0" anchor="ctr"/>
          <a:lstStyle/>
          <a:p>
            <a:pPr indent="0" marL="0">
              <a:buNone/>
            </a:pPr>
            <a:r>
              <a:rPr lang="en-US" sz="6000" b="1" dirty="0">
                <a:solidFill>
                  <a:srgbClr val="2A7F62"/>
                </a:solidFill>
                <a:latin typeface="Cambria" pitchFamily="34" charset="0"/>
                <a:ea typeface="Cambria" pitchFamily="34" charset="-122"/>
                <a:cs typeface="Cambria" pitchFamily="34" charset="-120"/>
              </a:rPr>
              <a:t>458</a:t>
            </a:r>
            <a:endParaRPr lang="en-US" sz="6000" dirty="0"/>
          </a:p>
        </p:txBody>
      </p:sp>
      <p:sp>
        <p:nvSpPr>
          <p:cNvPr id="7" name="Text 3"/>
          <p:cNvSpPr txBox="1"/>
          <p:nvPr/>
        </p:nvSpPr>
        <p:spPr>
          <a:xfrm>
            <a:off x="6309360" y="4800600"/>
            <a:ext cx="2560320" cy="228600"/>
          </a:xfrm>
          <a:prstGeom prst="rect">
            <a:avLst/>
          </a:prstGeom>
          <a:noFill/>
          <a:ln/>
        </p:spPr>
        <p:txBody>
          <a:bodyPr wrap="square" lIns="0" tIns="0" rIns="0" bIns="0" rtlCol="0" anchor="ctr"/>
          <a:lstStyle/>
          <a:p>
            <a:pPr algn="r" indent="0" marL="0">
              <a:buNone/>
            </a:pPr>
            <a:r>
              <a:rPr lang="en-US" sz="900" dirty="0">
                <a:solidFill>
                  <a:srgbClr val="B5B0A6"/>
                </a:solidFill>
                <a:latin typeface="Calibri" pitchFamily="34" charset="0"/>
                <a:ea typeface="Calibri" pitchFamily="34" charset="-122"/>
                <a:cs typeface="Calibri" pitchFamily="34" charset="-120"/>
              </a:rPr>
              <a:t>data: 24 Sept run — to refresh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1F1D1A"/>
                </a:solidFill>
                <a:latin typeface="Cambria" pitchFamily="34" charset="0"/>
                <a:ea typeface="Cambria" pitchFamily="34" charset="-122"/>
                <a:cs typeface="Cambria" pitchFamily="34" charset="-120"/>
              </a:rPr>
              <a:t>Living on debt</a:t>
            </a:r>
            <a:endParaRPr lang="en-US" sz="3600" dirty="0"/>
          </a:p>
        </p:txBody>
      </p:sp>
      <p:graphicFrame>
        <p:nvGraphicFramePr>
          <p:cNvPr id="3" name="Chart 0" descr=""/>
          <p:cNvGraphicFramePr/>
          <p:nvPr/>
        </p:nvGraphicFramePr>
        <p:xfrm>
          <a:off x="457200" y="118872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0" y="1920240"/>
            <a:ext cx="2377440" cy="914400"/>
          </a:xfrm>
          <a:prstGeom prst="rect">
            <a:avLst/>
          </a:prstGeom>
          <a:noFill/>
          <a:ln/>
        </p:spPr>
        <p:txBody>
          <a:bodyPr wrap="square" lIns="0" tIns="0" rIns="0" bIns="0" rtlCol="0" anchor="ctr"/>
          <a:lstStyle/>
          <a:p>
            <a:pPr indent="0" marL="0">
              <a:buNone/>
            </a:pPr>
            <a:r>
              <a:rPr lang="en-US" sz="5400" b="1" dirty="0">
                <a:solidFill>
                  <a:srgbClr val="B8541C"/>
                </a:solidFill>
                <a:latin typeface="Cambria" pitchFamily="34" charset="0"/>
                <a:ea typeface="Cambria" pitchFamily="34" charset="-122"/>
                <a:cs typeface="Cambria" pitchFamily="34" charset="-120"/>
              </a:rPr>
              <a:t>200k</a:t>
            </a:r>
            <a:endParaRPr lang="en-US" sz="5400" dirty="0"/>
          </a:p>
        </p:txBody>
      </p:sp>
      <p:sp>
        <p:nvSpPr>
          <p:cNvPr id="5" name="Text 2"/>
          <p:cNvSpPr txBox="1"/>
          <p:nvPr/>
        </p:nvSpPr>
        <p:spPr>
          <a:xfrm>
            <a:off x="6400800" y="2788920"/>
            <a:ext cx="2377440" cy="365760"/>
          </a:xfrm>
          <a:prstGeom prst="rect">
            <a:avLst/>
          </a:prstGeom>
          <a:noFill/>
          <a:ln/>
        </p:spPr>
        <p:txBody>
          <a:bodyPr wrap="square" lIns="0" tIns="0" rIns="0" bIns="0" rtlCol="0" anchor="ctr"/>
          <a:lstStyle/>
          <a:p>
            <a:pPr indent="0" marL="0">
              <a:buNone/>
            </a:pPr>
            <a:r>
              <a:rPr lang="en-US" sz="1400" dirty="0">
                <a:solidFill>
                  <a:srgbClr val="8A857C"/>
                </a:solidFill>
                <a:latin typeface="Calibri" pitchFamily="34" charset="0"/>
                <a:ea typeface="Calibri" pitchFamily="34" charset="-122"/>
                <a:cs typeface="Calibri" pitchFamily="34" charset="-120"/>
              </a:rPr>
              <a:t>public debt, year 10</a:t>
            </a:r>
            <a:endParaRPr lang="en-US" sz="1400" dirty="0"/>
          </a:p>
        </p:txBody>
      </p:sp>
      <p:sp>
        <p:nvSpPr>
          <p:cNvPr id="6" name="Text 3"/>
          <p:cNvSpPr txBox="1"/>
          <p:nvPr/>
        </p:nvSpPr>
        <p:spPr>
          <a:xfrm>
            <a:off x="6309360" y="4800600"/>
            <a:ext cx="2560320" cy="228600"/>
          </a:xfrm>
          <a:prstGeom prst="rect">
            <a:avLst/>
          </a:prstGeom>
          <a:noFill/>
          <a:ln/>
        </p:spPr>
        <p:txBody>
          <a:bodyPr wrap="square" lIns="0" tIns="0" rIns="0" bIns="0" rtlCol="0" anchor="ctr"/>
          <a:lstStyle/>
          <a:p>
            <a:pPr algn="r" indent="0" marL="0">
              <a:buNone/>
            </a:pPr>
            <a:r>
              <a:rPr lang="en-US" sz="900" dirty="0">
                <a:solidFill>
                  <a:srgbClr val="B5B0A6"/>
                </a:solidFill>
                <a:latin typeface="Calibri" pitchFamily="34" charset="0"/>
                <a:ea typeface="Calibri" pitchFamily="34" charset="-122"/>
                <a:cs typeface="Calibri" pitchFamily="34" charset="-120"/>
              </a:rPr>
              <a:t>data: 24 Sept run — to refresh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1F1D1A"/>
                </a:solidFill>
                <a:latin typeface="Cambria" pitchFamily="34" charset="0"/>
                <a:ea typeface="Cambria" pitchFamily="34" charset="-122"/>
                <a:cs typeface="Cambria" pitchFamily="34" charset="-120"/>
              </a:rPr>
              <a:t>A startup cost</a:t>
            </a:r>
            <a:endParaRPr lang="en-US" sz="3600" dirty="0"/>
          </a:p>
        </p:txBody>
      </p:sp>
      <p:graphicFrame>
        <p:nvGraphicFramePr>
          <p:cNvPr id="3" name="Chart 0" descr=""/>
          <p:cNvGraphicFramePr/>
          <p:nvPr/>
        </p:nvGraphicFramePr>
        <p:xfrm>
          <a:off x="457200" y="118872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0" y="1920240"/>
            <a:ext cx="2377440" cy="914400"/>
          </a:xfrm>
          <a:prstGeom prst="rect">
            <a:avLst/>
          </a:prstGeom>
          <a:noFill/>
          <a:ln/>
        </p:spPr>
        <p:txBody>
          <a:bodyPr wrap="square" lIns="0" tIns="0" rIns="0" bIns="0" rtlCol="0" anchor="ctr"/>
          <a:lstStyle/>
          <a:p>
            <a:pPr indent="0" marL="0">
              <a:buNone/>
            </a:pPr>
            <a:r>
              <a:rPr lang="en-US" sz="4800" b="1" dirty="0">
                <a:solidFill>
                  <a:srgbClr val="2A7F62"/>
                </a:solidFill>
                <a:latin typeface="Cambria" pitchFamily="34" charset="0"/>
                <a:ea typeface="Cambria" pitchFamily="34" charset="-122"/>
                <a:cs typeface="Cambria" pitchFamily="34" charset="-120"/>
              </a:rPr>
              <a:t>Repaid</a:t>
            </a:r>
            <a:endParaRPr lang="en-US" sz="4800" dirty="0"/>
          </a:p>
        </p:txBody>
      </p:sp>
      <p:sp>
        <p:nvSpPr>
          <p:cNvPr id="5" name="Text 2"/>
          <p:cNvSpPr txBox="1"/>
          <p:nvPr/>
        </p:nvSpPr>
        <p:spPr>
          <a:xfrm>
            <a:off x="6400800" y="2743200"/>
            <a:ext cx="2377440" cy="365760"/>
          </a:xfrm>
          <a:prstGeom prst="rect">
            <a:avLst/>
          </a:prstGeom>
          <a:noFill/>
          <a:ln/>
        </p:spPr>
        <p:txBody>
          <a:bodyPr wrap="square" lIns="0" tIns="0" rIns="0" bIns="0" rtlCol="0" anchor="ctr"/>
          <a:lstStyle/>
          <a:p>
            <a:pPr indent="0" marL="0">
              <a:buNone/>
            </a:pPr>
            <a:r>
              <a:rPr lang="en-US" sz="1400" dirty="0">
                <a:solidFill>
                  <a:srgbClr val="8A857C"/>
                </a:solidFill>
                <a:latin typeface="Calibri" pitchFamily="34" charset="0"/>
                <a:ea typeface="Calibri" pitchFamily="34" charset="-122"/>
                <a:cs typeface="Calibri" pitchFamily="34" charset="-120"/>
              </a:rPr>
              <a:t>in every run</a:t>
            </a:r>
            <a:endParaRPr lang="en-US" sz="1400" dirty="0"/>
          </a:p>
        </p:txBody>
      </p:sp>
      <p:sp>
        <p:nvSpPr>
          <p:cNvPr id="6" name="Text 3"/>
          <p:cNvSpPr txBox="1"/>
          <p:nvPr/>
        </p:nvSpPr>
        <p:spPr>
          <a:xfrm>
            <a:off x="6309360" y="4800600"/>
            <a:ext cx="2560320" cy="228600"/>
          </a:xfrm>
          <a:prstGeom prst="rect">
            <a:avLst/>
          </a:prstGeom>
          <a:noFill/>
          <a:ln/>
        </p:spPr>
        <p:txBody>
          <a:bodyPr wrap="square" lIns="0" tIns="0" rIns="0" bIns="0" rtlCol="0" anchor="ctr"/>
          <a:lstStyle/>
          <a:p>
            <a:pPr algn="r" indent="0" marL="0">
              <a:buNone/>
            </a:pPr>
            <a:r>
              <a:rPr lang="en-US" sz="900" dirty="0">
                <a:solidFill>
                  <a:srgbClr val="B5B0A6"/>
                </a:solidFill>
                <a:latin typeface="Calibri" pitchFamily="34" charset="0"/>
                <a:ea typeface="Calibri" pitchFamily="34" charset="-122"/>
                <a:cs typeface="Calibri" pitchFamily="34" charset="-120"/>
              </a:rPr>
              <a:t>data: 24 Sept run — to refresh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1F1D1A"/>
                </a:solidFill>
                <a:latin typeface="Cambria" pitchFamily="34" charset="0"/>
                <a:ea typeface="Cambria" pitchFamily="34" charset="-122"/>
                <a:cs typeface="Cambria" pitchFamily="34" charset="-120"/>
              </a:rPr>
              <a:t>Shares, land, co-ops</a:t>
            </a:r>
            <a:endParaRPr lang="en-US" sz="3600" dirty="0"/>
          </a:p>
        </p:txBody>
      </p:sp>
      <p:graphicFrame>
        <p:nvGraphicFramePr>
          <p:cNvPr id="3" name="Chart 0" descr=""/>
          <p:cNvGraphicFramePr/>
          <p:nvPr/>
        </p:nvGraphicFramePr>
        <p:xfrm>
          <a:off x="457200" y="1188720"/>
          <a:ext cx="822960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1051560"/>
            <a:ext cx="3657600" cy="274320"/>
          </a:xfrm>
          <a:prstGeom prst="rect">
            <a:avLst/>
          </a:prstGeom>
          <a:noFill/>
          <a:ln/>
        </p:spPr>
        <p:txBody>
          <a:bodyPr wrap="square" lIns="0" tIns="0" rIns="0" bIns="0" rtlCol="0" anchor="ctr"/>
          <a:lstStyle/>
          <a:p>
            <a:pPr indent="0" marL="0">
              <a:buNone/>
            </a:pPr>
            <a:r>
              <a:rPr lang="en-US" sz="1200" dirty="0">
                <a:solidFill>
                  <a:srgbClr val="8A857C"/>
                </a:solidFill>
                <a:latin typeface="Calibri" pitchFamily="34" charset="0"/>
                <a:ea typeface="Calibri" pitchFamily="34" charset="-122"/>
                <a:cs typeface="Calibri" pitchFamily="34" charset="-120"/>
              </a:rPr>
              <a:t>rich–poor gap, in meals</a:t>
            </a:r>
            <a:endParaRPr lang="en-US" sz="1200" dirty="0"/>
          </a:p>
        </p:txBody>
      </p:sp>
      <p:sp>
        <p:nvSpPr>
          <p:cNvPr id="5" name="Text 2"/>
          <p:cNvSpPr txBox="1"/>
          <p:nvPr/>
        </p:nvSpPr>
        <p:spPr>
          <a:xfrm>
            <a:off x="6309360" y="4800600"/>
            <a:ext cx="2560320" cy="228600"/>
          </a:xfrm>
          <a:prstGeom prst="rect">
            <a:avLst/>
          </a:prstGeom>
          <a:noFill/>
          <a:ln/>
        </p:spPr>
        <p:txBody>
          <a:bodyPr wrap="square" lIns="0" tIns="0" rIns="0" bIns="0" rtlCol="0" anchor="ctr"/>
          <a:lstStyle/>
          <a:p>
            <a:pPr algn="r" indent="0" marL="0">
              <a:buNone/>
            </a:pPr>
            <a:r>
              <a:rPr lang="en-US" sz="900" dirty="0">
                <a:solidFill>
                  <a:srgbClr val="B5B0A6"/>
                </a:solidFill>
                <a:latin typeface="Calibri" pitchFamily="34" charset="0"/>
                <a:ea typeface="Calibri" pitchFamily="34" charset="-122"/>
                <a:cs typeface="Calibri" pitchFamily="34" charset="-120"/>
              </a:rPr>
              <a:t>data: 24 Sept run — to refresh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1F1D1A"/>
                </a:solidFill>
                <a:latin typeface="Cambria" pitchFamily="34" charset="0"/>
                <a:ea typeface="Cambria" pitchFamily="34" charset="-122"/>
                <a:cs typeface="Cambria" pitchFamily="34" charset="-120"/>
              </a:rPr>
              <a:t>What is land worth?</a:t>
            </a:r>
            <a:endParaRPr lang="en-US" sz="3600" dirty="0"/>
          </a:p>
        </p:txBody>
      </p:sp>
      <p:sp>
        <p:nvSpPr>
          <p:cNvPr id="3" name="Shape 1"/>
          <p:cNvSpPr/>
          <p:nvPr/>
        </p:nvSpPr>
        <p:spPr>
          <a:xfrm>
            <a:off x="640080" y="1463040"/>
            <a:ext cx="2377440" cy="2011680"/>
          </a:xfrm>
          <a:prstGeom prst="roundRect">
            <a:avLst>
              <a:gd name="adj" fmla="val 6818"/>
            </a:avLst>
          </a:prstGeom>
          <a:solidFill>
            <a:srgbClr val="B8541C"/>
          </a:solidFill>
          <a:ln w="38100">
            <a:solidFill>
              <a:srgbClr val="B8541C"/>
            </a:solidFill>
            <a:prstDash val="solid"/>
          </a:ln>
        </p:spPr>
      </p:sp>
      <p:sp>
        <p:nvSpPr>
          <p:cNvPr id="4" name="Shape 2"/>
          <p:cNvSpPr/>
          <p:nvPr/>
        </p:nvSpPr>
        <p:spPr>
          <a:xfrm>
            <a:off x="1691640" y="1627632"/>
            <a:ext cx="274320" cy="274320"/>
          </a:xfrm>
          <a:prstGeom prst="ellipse">
            <a:avLst/>
          </a:prstGeom>
          <a:solidFill>
            <a:srgbClr val="FFFFFF"/>
          </a:solidFill>
          <a:ln w="25400">
            <a:solidFill>
              <a:srgbClr val="B8541C"/>
            </a:solidFill>
            <a:prstDash val="solid"/>
          </a:ln>
        </p:spPr>
      </p:sp>
      <p:sp>
        <p:nvSpPr>
          <p:cNvPr id="5" name="Text 3"/>
          <p:cNvSpPr txBox="1"/>
          <p:nvPr/>
        </p:nvSpPr>
        <p:spPr>
          <a:xfrm>
            <a:off x="640080" y="2103120"/>
            <a:ext cx="237744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44</a:t>
            </a:r>
            <a:endParaRPr lang="en-US" sz="4800" dirty="0"/>
          </a:p>
        </p:txBody>
      </p:sp>
      <p:sp>
        <p:nvSpPr>
          <p:cNvPr id="6" name="Text 4"/>
          <p:cNvSpPr txBox="1"/>
          <p:nvPr/>
        </p:nvSpPr>
        <p:spPr>
          <a:xfrm>
            <a:off x="640080" y="3657600"/>
            <a:ext cx="2377440" cy="365760"/>
          </a:xfrm>
          <a:prstGeom prst="rect">
            <a:avLst/>
          </a:prstGeom>
          <a:noFill/>
          <a:ln/>
        </p:spPr>
        <p:txBody>
          <a:bodyPr wrap="square" lIns="0" tIns="0" rIns="0" bIns="0" rtlCol="0" anchor="ctr"/>
          <a:lstStyle/>
          <a:p>
            <a:pPr algn="ctr" indent="0" marL="0">
              <a:buNone/>
            </a:pPr>
            <a:r>
              <a:rPr lang="en-US" sz="1600" dirty="0">
                <a:solidFill>
                  <a:srgbClr val="1F1D1A"/>
                </a:solidFill>
                <a:latin typeface="Calibri" pitchFamily="34" charset="0"/>
                <a:ea typeface="Calibri" pitchFamily="34" charset="-122"/>
                <a:cs typeface="Calibri" pitchFamily="34" charset="-120"/>
              </a:rPr>
              <a:t>debt money</a:t>
            </a:r>
            <a:endParaRPr lang="en-US" sz="1600" dirty="0"/>
          </a:p>
        </p:txBody>
      </p:sp>
      <p:sp>
        <p:nvSpPr>
          <p:cNvPr id="7" name="Shape 5"/>
          <p:cNvSpPr/>
          <p:nvPr/>
        </p:nvSpPr>
        <p:spPr>
          <a:xfrm>
            <a:off x="3383280" y="1463040"/>
            <a:ext cx="2377440" cy="2011680"/>
          </a:xfrm>
          <a:prstGeom prst="roundRect">
            <a:avLst>
              <a:gd name="adj" fmla="val 6818"/>
            </a:avLst>
          </a:prstGeom>
          <a:solidFill>
            <a:srgbClr val="2A7F62"/>
          </a:solidFill>
          <a:ln w="38100">
            <a:solidFill>
              <a:srgbClr val="2A7F62"/>
            </a:solidFill>
            <a:prstDash val="solid"/>
          </a:ln>
        </p:spPr>
      </p:sp>
      <p:sp>
        <p:nvSpPr>
          <p:cNvPr id="8" name="Shape 6"/>
          <p:cNvSpPr/>
          <p:nvPr/>
        </p:nvSpPr>
        <p:spPr>
          <a:xfrm>
            <a:off x="4434840" y="1627632"/>
            <a:ext cx="274320" cy="274320"/>
          </a:xfrm>
          <a:prstGeom prst="ellipse">
            <a:avLst/>
          </a:prstGeom>
          <a:solidFill>
            <a:srgbClr val="FFFFFF"/>
          </a:solidFill>
          <a:ln w="25400">
            <a:solidFill>
              <a:srgbClr val="2A7F62"/>
            </a:solidFill>
            <a:prstDash val="solid"/>
          </a:ln>
        </p:spPr>
      </p:sp>
      <p:sp>
        <p:nvSpPr>
          <p:cNvPr id="9" name="Text 7"/>
          <p:cNvSpPr txBox="1"/>
          <p:nvPr/>
        </p:nvSpPr>
        <p:spPr>
          <a:xfrm>
            <a:off x="3383280" y="2103120"/>
            <a:ext cx="237744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1,400</a:t>
            </a:r>
            <a:endParaRPr lang="en-US" sz="4800" dirty="0"/>
          </a:p>
        </p:txBody>
      </p:sp>
      <p:sp>
        <p:nvSpPr>
          <p:cNvPr id="10" name="Text 8"/>
          <p:cNvSpPr txBox="1"/>
          <p:nvPr/>
        </p:nvSpPr>
        <p:spPr>
          <a:xfrm>
            <a:off x="3383280" y="3657600"/>
            <a:ext cx="2377440" cy="365760"/>
          </a:xfrm>
          <a:prstGeom prst="rect">
            <a:avLst/>
          </a:prstGeom>
          <a:noFill/>
          <a:ln/>
        </p:spPr>
        <p:txBody>
          <a:bodyPr wrap="square" lIns="0" tIns="0" rIns="0" bIns="0" rtlCol="0" anchor="ctr"/>
          <a:lstStyle/>
          <a:p>
            <a:pPr algn="ctr" indent="0" marL="0">
              <a:buNone/>
            </a:pPr>
            <a:r>
              <a:rPr lang="en-US" sz="1600" dirty="0">
                <a:solidFill>
                  <a:srgbClr val="1F1D1A"/>
                </a:solidFill>
                <a:latin typeface="Calibri" pitchFamily="34" charset="0"/>
                <a:ea typeface="Calibri" pitchFamily="34" charset="-122"/>
                <a:cs typeface="Calibri" pitchFamily="34" charset="-120"/>
              </a:rPr>
              <a:t>SuMSy</a:t>
            </a:r>
            <a:endParaRPr lang="en-US" sz="1600" dirty="0"/>
          </a:p>
        </p:txBody>
      </p:sp>
      <p:sp>
        <p:nvSpPr>
          <p:cNvPr id="11" name="Shape 9"/>
          <p:cNvSpPr/>
          <p:nvPr/>
        </p:nvSpPr>
        <p:spPr>
          <a:xfrm>
            <a:off x="6126480" y="1463040"/>
            <a:ext cx="2377440" cy="2011680"/>
          </a:xfrm>
          <a:prstGeom prst="roundRect">
            <a:avLst>
              <a:gd name="adj" fmla="val 6818"/>
            </a:avLst>
          </a:prstGeom>
          <a:solidFill>
            <a:srgbClr val="FFFFFF"/>
          </a:solidFill>
          <a:ln w="38100">
            <a:solidFill>
              <a:srgbClr val="2A7F62"/>
            </a:solidFill>
            <a:prstDash val="solid"/>
          </a:ln>
        </p:spPr>
      </p:sp>
      <p:sp>
        <p:nvSpPr>
          <p:cNvPr id="12" name="Shape 10"/>
          <p:cNvSpPr/>
          <p:nvPr/>
        </p:nvSpPr>
        <p:spPr>
          <a:xfrm>
            <a:off x="7178040" y="1627632"/>
            <a:ext cx="274320" cy="274320"/>
          </a:xfrm>
          <a:prstGeom prst="ellipse">
            <a:avLst/>
          </a:prstGeom>
          <a:solidFill>
            <a:srgbClr val="FFFFFF"/>
          </a:solidFill>
          <a:ln w="25400">
            <a:solidFill>
              <a:srgbClr val="2A7F62"/>
            </a:solidFill>
            <a:prstDash val="solid"/>
          </a:ln>
        </p:spPr>
      </p:sp>
      <p:sp>
        <p:nvSpPr>
          <p:cNvPr id="13" name="Text 11"/>
          <p:cNvSpPr txBox="1"/>
          <p:nvPr/>
        </p:nvSpPr>
        <p:spPr>
          <a:xfrm>
            <a:off x="6126480" y="2103120"/>
            <a:ext cx="2377440" cy="822960"/>
          </a:xfrm>
          <a:prstGeom prst="rect">
            <a:avLst/>
          </a:prstGeom>
          <a:noFill/>
          <a:ln/>
        </p:spPr>
        <p:txBody>
          <a:bodyPr wrap="square" lIns="0" tIns="0" rIns="0" bIns="0" rtlCol="0" anchor="ctr"/>
          <a:lstStyle/>
          <a:p>
            <a:pPr algn="ctr" indent="0" marL="0">
              <a:buNone/>
            </a:pPr>
            <a:r>
              <a:rPr lang="en-US" sz="4800" b="1" dirty="0">
                <a:solidFill>
                  <a:srgbClr val="2A7F62"/>
                </a:solidFill>
                <a:latin typeface="Cambria" pitchFamily="34" charset="0"/>
                <a:ea typeface="Cambria" pitchFamily="34" charset="-122"/>
                <a:cs typeface="Cambria" pitchFamily="34" charset="-120"/>
              </a:rPr>
              <a:t>49</a:t>
            </a:r>
            <a:endParaRPr lang="en-US" sz="4800" dirty="0"/>
          </a:p>
        </p:txBody>
      </p:sp>
      <p:sp>
        <p:nvSpPr>
          <p:cNvPr id="14" name="Text 12"/>
          <p:cNvSpPr txBox="1"/>
          <p:nvPr/>
        </p:nvSpPr>
        <p:spPr>
          <a:xfrm>
            <a:off x="6126480" y="3657600"/>
            <a:ext cx="2377440" cy="365760"/>
          </a:xfrm>
          <a:prstGeom prst="rect">
            <a:avLst/>
          </a:prstGeom>
          <a:noFill/>
          <a:ln/>
        </p:spPr>
        <p:txBody>
          <a:bodyPr wrap="square" lIns="0" tIns="0" rIns="0" bIns="0" rtlCol="0" anchor="ctr"/>
          <a:lstStyle/>
          <a:p>
            <a:pPr algn="ctr" indent="0" marL="0">
              <a:buNone/>
            </a:pPr>
            <a:r>
              <a:rPr lang="en-US" sz="1600" dirty="0">
                <a:solidFill>
                  <a:srgbClr val="1F1D1A"/>
                </a:solidFill>
                <a:latin typeface="Calibri" pitchFamily="34" charset="0"/>
                <a:ea typeface="Calibri" pitchFamily="34" charset="-122"/>
                <a:cs typeface="Calibri" pitchFamily="34" charset="-120"/>
              </a:rPr>
              <a:t>SuMSy + land fee</a:t>
            </a:r>
            <a:endParaRPr lang="en-US" sz="1600" dirty="0"/>
          </a:p>
        </p:txBody>
      </p:sp>
      <p:sp>
        <p:nvSpPr>
          <p:cNvPr id="15" name="Text 13"/>
          <p:cNvSpPr txBox="1"/>
          <p:nvPr/>
        </p:nvSpPr>
        <p:spPr>
          <a:xfrm>
            <a:off x="548640" y="4206240"/>
            <a:ext cx="8046720" cy="320040"/>
          </a:xfrm>
          <a:prstGeom prst="rect">
            <a:avLst/>
          </a:prstGeom>
          <a:noFill/>
          <a:ln/>
        </p:spPr>
        <p:txBody>
          <a:bodyPr wrap="square" lIns="0" tIns="0" rIns="0" bIns="0" rtlCol="0" anchor="ctr"/>
          <a:lstStyle/>
          <a:p>
            <a:pPr algn="ctr" indent="0" marL="0">
              <a:buNone/>
            </a:pPr>
            <a:r>
              <a:rPr lang="en-US" sz="1300" dirty="0">
                <a:solidFill>
                  <a:srgbClr val="8A857C"/>
                </a:solidFill>
                <a:latin typeface="Calibri" pitchFamily="34" charset="0"/>
                <a:ea typeface="Calibri" pitchFamily="34" charset="-122"/>
                <a:cs typeface="Calibri" pitchFamily="34" charset="-120"/>
              </a:rPr>
              <a:t>months of rent</a:t>
            </a:r>
            <a:endParaRPr lang="en-US" sz="1300" dirty="0"/>
          </a:p>
        </p:txBody>
      </p:sp>
      <p:sp>
        <p:nvSpPr>
          <p:cNvPr id="16" name="Text 14"/>
          <p:cNvSpPr txBox="1"/>
          <p:nvPr/>
        </p:nvSpPr>
        <p:spPr>
          <a:xfrm>
            <a:off x="6309360" y="4800600"/>
            <a:ext cx="2560320" cy="228600"/>
          </a:xfrm>
          <a:prstGeom prst="rect">
            <a:avLst/>
          </a:prstGeom>
          <a:noFill/>
          <a:ln/>
        </p:spPr>
        <p:txBody>
          <a:bodyPr wrap="square" lIns="0" tIns="0" rIns="0" bIns="0" rtlCol="0" anchor="ctr"/>
          <a:lstStyle/>
          <a:p>
            <a:pPr algn="r" indent="0" marL="0">
              <a:buNone/>
            </a:pPr>
            <a:r>
              <a:rPr lang="en-US" sz="900" dirty="0">
                <a:solidFill>
                  <a:srgbClr val="B5B0A6"/>
                </a:solidFill>
                <a:latin typeface="Calibri" pitchFamily="34" charset="0"/>
                <a:ea typeface="Calibri" pitchFamily="34" charset="-122"/>
                <a:cs typeface="Calibri" pitchFamily="34" charset="-120"/>
              </a:rPr>
              <a:t>data: 24 Sept run — to refresh</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1F1D1A"/>
                </a:solidFill>
                <a:latin typeface="Cambria" pitchFamily="34" charset="0"/>
                <a:ea typeface="Cambria" pitchFamily="34" charset="-122"/>
                <a:cs typeface="Cambria" pitchFamily="34" charset="-120"/>
              </a:rPr>
              <a:t>Everyone greedy</a:t>
            </a:r>
            <a:endParaRPr lang="en-US" sz="3600" dirty="0"/>
          </a:p>
        </p:txBody>
      </p:sp>
      <p:sp>
        <p:nvSpPr>
          <p:cNvPr id="3" name="Shape 1"/>
          <p:cNvSpPr/>
          <p:nvPr/>
        </p:nvSpPr>
        <p:spPr>
          <a:xfrm>
            <a:off x="731520" y="1417320"/>
            <a:ext cx="2011680" cy="731520"/>
          </a:xfrm>
          <a:prstGeom prst="roundRect">
            <a:avLst>
              <a:gd name="adj" fmla="val 12500"/>
            </a:avLst>
          </a:prstGeom>
          <a:solidFill>
            <a:srgbClr val="B8541C"/>
          </a:solidFill>
          <a:ln w="12700">
            <a:solidFill>
              <a:srgbClr val="B8541C"/>
            </a:solidFill>
            <a:prstDash val="solid"/>
          </a:ln>
        </p:spPr>
      </p:sp>
      <p:sp>
        <p:nvSpPr>
          <p:cNvPr id="4" name="Text 2"/>
          <p:cNvSpPr txBox="1"/>
          <p:nvPr/>
        </p:nvSpPr>
        <p:spPr>
          <a:xfrm>
            <a:off x="731520" y="1417320"/>
            <a:ext cx="201168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CLOSED</a:t>
            </a:r>
            <a:endParaRPr lang="en-US" sz="2400" dirty="0"/>
          </a:p>
        </p:txBody>
      </p:sp>
      <p:pic>
        <p:nvPicPr>
          <p:cNvPr id="5" name="Image 0" descr="preencoded.png">    </p:cNvPr>
          <p:cNvPicPr>
            <a:picLocks noChangeAspect="1"/>
          </p:cNvPicPr>
          <p:nvPr/>
        </p:nvPicPr>
        <p:blipFill>
          <a:blip r:embed="rId1"/>
          <a:stretch>
            <a:fillRect/>
          </a:stretch>
        </p:blipFill>
        <p:spPr>
          <a:xfrm>
            <a:off x="3017520" y="1508760"/>
            <a:ext cx="548640" cy="548640"/>
          </a:xfrm>
          <a:prstGeom prst="rect">
            <a:avLst/>
          </a:prstGeom>
        </p:spPr>
      </p:pic>
      <p:sp>
        <p:nvSpPr>
          <p:cNvPr id="6" name="Shape 3"/>
          <p:cNvSpPr/>
          <p:nvPr/>
        </p:nvSpPr>
        <p:spPr>
          <a:xfrm>
            <a:off x="3840480" y="1417320"/>
            <a:ext cx="2011680" cy="731520"/>
          </a:xfrm>
          <a:prstGeom prst="roundRect">
            <a:avLst>
              <a:gd name="adj" fmla="val 12500"/>
            </a:avLst>
          </a:prstGeom>
          <a:solidFill>
            <a:srgbClr val="2A7F62"/>
          </a:solidFill>
          <a:ln w="12700">
            <a:solidFill>
              <a:srgbClr val="2A7F62"/>
            </a:solidFill>
            <a:prstDash val="solid"/>
          </a:ln>
        </p:spPr>
      </p:sp>
      <p:sp>
        <p:nvSpPr>
          <p:cNvPr id="7" name="Text 4"/>
          <p:cNvSpPr txBox="1"/>
          <p:nvPr/>
        </p:nvSpPr>
        <p:spPr>
          <a:xfrm>
            <a:off x="3840480" y="1417320"/>
            <a:ext cx="201168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OPEN</a:t>
            </a:r>
            <a:endParaRPr lang="en-US" sz="2400" dirty="0"/>
          </a:p>
        </p:txBody>
      </p:sp>
      <p:sp>
        <p:nvSpPr>
          <p:cNvPr id="8" name="Text 5"/>
          <p:cNvSpPr txBox="1"/>
          <p:nvPr/>
        </p:nvSpPr>
        <p:spPr>
          <a:xfrm>
            <a:off x="6400800" y="1325880"/>
            <a:ext cx="2377440" cy="914400"/>
          </a:xfrm>
          <a:prstGeom prst="rect">
            <a:avLst/>
          </a:prstGeom>
          <a:noFill/>
          <a:ln/>
        </p:spPr>
        <p:txBody>
          <a:bodyPr wrap="square" lIns="0" tIns="0" rIns="0" bIns="0" rtlCol="0" anchor="ctr"/>
          <a:lstStyle/>
          <a:p>
            <a:pPr indent="0" marL="0">
              <a:buNone/>
            </a:pPr>
            <a:r>
              <a:rPr lang="en-US" sz="5400" b="1" dirty="0">
                <a:solidFill>
                  <a:srgbClr val="1F1D1A"/>
                </a:solidFill>
                <a:latin typeface="Cambria" pitchFamily="34" charset="0"/>
                <a:ea typeface="Cambria" pitchFamily="34" charset="-122"/>
                <a:cs typeface="Cambria" pitchFamily="34" charset="-120"/>
              </a:rPr>
              <a:t>×50</a:t>
            </a:r>
            <a:endParaRPr lang="en-US" sz="5400" dirty="0"/>
          </a:p>
        </p:txBody>
      </p:sp>
      <p:pic>
        <p:nvPicPr>
          <p:cNvPr id="9" name="Image 1" descr="preencoded.png">    </p:cNvPr>
          <p:cNvPicPr>
            <a:picLocks noChangeAspect="1"/>
          </p:cNvPicPr>
          <p:nvPr/>
        </p:nvPicPr>
        <p:blipFill>
          <a:blip r:embed="rId2"/>
          <a:stretch>
            <a:fillRect/>
          </a:stretch>
        </p:blipFill>
        <p:spPr>
          <a:xfrm>
            <a:off x="1463040" y="2514600"/>
            <a:ext cx="5120640" cy="2432304"/>
          </a:xfrm>
          <a:prstGeom prst="rect">
            <a:avLst/>
          </a:prstGeom>
        </p:spPr>
      </p:pic>
      <p:sp>
        <p:nvSpPr>
          <p:cNvPr id="10" name="Text 6"/>
          <p:cNvSpPr txBox="1"/>
          <p:nvPr/>
        </p:nvSpPr>
        <p:spPr>
          <a:xfrm>
            <a:off x="6309360" y="4800600"/>
            <a:ext cx="2560320" cy="228600"/>
          </a:xfrm>
          <a:prstGeom prst="rect">
            <a:avLst/>
          </a:prstGeom>
          <a:noFill/>
          <a:ln/>
        </p:spPr>
        <p:txBody>
          <a:bodyPr wrap="square" lIns="0" tIns="0" rIns="0" bIns="0" rtlCol="0" anchor="ctr"/>
          <a:lstStyle/>
          <a:p>
            <a:pPr algn="r" indent="0" marL="0">
              <a:buNone/>
            </a:pPr>
            <a:r>
              <a:rPr lang="en-US" sz="900" dirty="0">
                <a:solidFill>
                  <a:srgbClr val="B5B0A6"/>
                </a:solidFill>
                <a:latin typeface="Calibri" pitchFamily="34" charset="0"/>
                <a:ea typeface="Calibri" pitchFamily="34" charset="-122"/>
                <a:cs typeface="Calibri" pitchFamily="34" charset="-120"/>
              </a:rPr>
              <a:t>data: 24 Sept run — to refresh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1F1D1A"/>
                </a:solidFill>
                <a:latin typeface="Cambria" pitchFamily="34" charset="0"/>
                <a:ea typeface="Cambria" pitchFamily="34" charset="-122"/>
                <a:cs typeface="Cambria" pitchFamily="34" charset="-120"/>
              </a:rPr>
              <a:t>What it takes</a:t>
            </a:r>
            <a:endParaRPr lang="en-US" sz="3600" dirty="0"/>
          </a:p>
        </p:txBody>
      </p:sp>
      <p:sp>
        <p:nvSpPr>
          <p:cNvPr id="3" name="Shape 1"/>
          <p:cNvSpPr/>
          <p:nvPr/>
        </p:nvSpPr>
        <p:spPr>
          <a:xfrm>
            <a:off x="731520" y="1554480"/>
            <a:ext cx="960120" cy="960120"/>
          </a:xfrm>
          <a:prstGeom prst="ellipse">
            <a:avLst/>
          </a:prstGeom>
          <a:solidFill>
            <a:srgbClr val="B8541C"/>
          </a:solidFill>
          <a:ln w="12700">
            <a:solidFill>
              <a:srgbClr val="B8541C"/>
            </a:solidFill>
            <a:prstDash val="solid"/>
          </a:ln>
        </p:spPr>
      </p:sp>
      <p:pic>
        <p:nvPicPr>
          <p:cNvPr id="4" name="Image 0" descr="preencoded.png">    </p:cNvPr>
          <p:cNvPicPr>
            <a:picLocks noChangeAspect="1"/>
          </p:cNvPicPr>
          <p:nvPr/>
        </p:nvPicPr>
        <p:blipFill>
          <a:blip r:embed="rId1"/>
          <a:stretch>
            <a:fillRect/>
          </a:stretch>
        </p:blipFill>
        <p:spPr>
          <a:xfrm>
            <a:off x="950976" y="1773936"/>
            <a:ext cx="521208" cy="521208"/>
          </a:xfrm>
          <a:prstGeom prst="rect">
            <a:avLst/>
          </a:prstGeom>
        </p:spPr>
      </p:pic>
      <p:sp>
        <p:nvSpPr>
          <p:cNvPr id="5" name="Shape 2"/>
          <p:cNvSpPr/>
          <p:nvPr/>
        </p:nvSpPr>
        <p:spPr>
          <a:xfrm>
            <a:off x="1965960" y="1554480"/>
            <a:ext cx="960120" cy="960120"/>
          </a:xfrm>
          <a:prstGeom prst="ellipse">
            <a:avLst/>
          </a:prstGeom>
          <a:solidFill>
            <a:srgbClr val="B8541C"/>
          </a:solidFill>
          <a:ln w="12700">
            <a:solidFill>
              <a:srgbClr val="B8541C"/>
            </a:solidFill>
            <a:prstDash val="solid"/>
          </a:ln>
        </p:spPr>
      </p:sp>
      <p:pic>
        <p:nvPicPr>
          <p:cNvPr id="6" name="Image 1" descr="preencoded.png">    </p:cNvPr>
          <p:cNvPicPr>
            <a:picLocks noChangeAspect="1"/>
          </p:cNvPicPr>
          <p:nvPr/>
        </p:nvPicPr>
        <p:blipFill>
          <a:blip r:embed="rId2"/>
          <a:stretch>
            <a:fillRect/>
          </a:stretch>
        </p:blipFill>
        <p:spPr>
          <a:xfrm>
            <a:off x="2185416" y="1773936"/>
            <a:ext cx="521208" cy="521208"/>
          </a:xfrm>
          <a:prstGeom prst="rect">
            <a:avLst/>
          </a:prstGeom>
        </p:spPr>
      </p:pic>
      <p:sp>
        <p:nvSpPr>
          <p:cNvPr id="7" name="Shape 3"/>
          <p:cNvSpPr/>
          <p:nvPr/>
        </p:nvSpPr>
        <p:spPr>
          <a:xfrm>
            <a:off x="4754880" y="1554480"/>
            <a:ext cx="960120" cy="960120"/>
          </a:xfrm>
          <a:prstGeom prst="ellipse">
            <a:avLst/>
          </a:prstGeom>
          <a:solidFill>
            <a:srgbClr val="2A7F62"/>
          </a:solidFill>
          <a:ln w="12700">
            <a:solidFill>
              <a:srgbClr val="2A7F62"/>
            </a:solidFill>
            <a:prstDash val="solid"/>
          </a:ln>
        </p:spPr>
      </p:sp>
      <p:pic>
        <p:nvPicPr>
          <p:cNvPr id="8" name="Image 2" descr="preencoded.png">    </p:cNvPr>
          <p:cNvPicPr>
            <a:picLocks noChangeAspect="1"/>
          </p:cNvPicPr>
          <p:nvPr/>
        </p:nvPicPr>
        <p:blipFill>
          <a:blip r:embed="rId3"/>
          <a:stretch>
            <a:fillRect/>
          </a:stretch>
        </p:blipFill>
        <p:spPr>
          <a:xfrm>
            <a:off x="4974336" y="1773936"/>
            <a:ext cx="521208" cy="521208"/>
          </a:xfrm>
          <a:prstGeom prst="rect">
            <a:avLst/>
          </a:prstGeom>
        </p:spPr>
      </p:pic>
      <p:sp>
        <p:nvSpPr>
          <p:cNvPr id="9" name="Shape 4"/>
          <p:cNvSpPr/>
          <p:nvPr/>
        </p:nvSpPr>
        <p:spPr>
          <a:xfrm>
            <a:off x="5989320" y="1554480"/>
            <a:ext cx="960120" cy="960120"/>
          </a:xfrm>
          <a:prstGeom prst="ellipse">
            <a:avLst/>
          </a:prstGeom>
          <a:solidFill>
            <a:srgbClr val="2A7F62"/>
          </a:solidFill>
          <a:ln w="12700">
            <a:solidFill>
              <a:srgbClr val="2A7F62"/>
            </a:solidFill>
            <a:prstDash val="solid"/>
          </a:ln>
        </p:spPr>
      </p:sp>
      <p:pic>
        <p:nvPicPr>
          <p:cNvPr id="10" name="Image 3" descr="preencoded.png">    </p:cNvPr>
          <p:cNvPicPr>
            <a:picLocks noChangeAspect="1"/>
          </p:cNvPicPr>
          <p:nvPr/>
        </p:nvPicPr>
        <p:blipFill>
          <a:blip r:embed="rId4"/>
          <a:stretch>
            <a:fillRect/>
          </a:stretch>
        </p:blipFill>
        <p:spPr>
          <a:xfrm>
            <a:off x="6208776" y="1773936"/>
            <a:ext cx="521208" cy="521208"/>
          </a:xfrm>
          <a:prstGeom prst="rect">
            <a:avLst/>
          </a:prstGeom>
        </p:spPr>
      </p:pic>
      <p:sp>
        <p:nvSpPr>
          <p:cNvPr id="11" name="Shape 5"/>
          <p:cNvSpPr/>
          <p:nvPr/>
        </p:nvSpPr>
        <p:spPr>
          <a:xfrm>
            <a:off x="7223760" y="1554480"/>
            <a:ext cx="960120" cy="960120"/>
          </a:xfrm>
          <a:prstGeom prst="ellipse">
            <a:avLst/>
          </a:prstGeom>
          <a:solidFill>
            <a:srgbClr val="2A7F62"/>
          </a:solidFill>
          <a:ln w="12700">
            <a:solidFill>
              <a:srgbClr val="2A7F62"/>
            </a:solidFill>
            <a:prstDash val="solid"/>
          </a:ln>
        </p:spPr>
      </p:sp>
      <p:pic>
        <p:nvPicPr>
          <p:cNvPr id="12" name="Image 4" descr="preencoded.png">    </p:cNvPr>
          <p:cNvPicPr>
            <a:picLocks noChangeAspect="1"/>
          </p:cNvPicPr>
          <p:nvPr/>
        </p:nvPicPr>
        <p:blipFill>
          <a:blip r:embed="rId5"/>
          <a:stretch>
            <a:fillRect/>
          </a:stretch>
        </p:blipFill>
        <p:spPr>
          <a:xfrm>
            <a:off x="7443216" y="1773936"/>
            <a:ext cx="521208" cy="521208"/>
          </a:xfrm>
          <a:prstGeom prst="rect">
            <a:avLst/>
          </a:prstGeom>
        </p:spPr>
      </p:pic>
      <p:sp>
        <p:nvSpPr>
          <p:cNvPr id="13" name="Text 6"/>
          <p:cNvSpPr txBox="1"/>
          <p:nvPr/>
        </p:nvSpPr>
        <p:spPr>
          <a:xfrm>
            <a:off x="731520" y="2697480"/>
            <a:ext cx="2194560" cy="365760"/>
          </a:xfrm>
          <a:prstGeom prst="rect">
            <a:avLst/>
          </a:prstGeom>
          <a:noFill/>
          <a:ln/>
        </p:spPr>
        <p:txBody>
          <a:bodyPr wrap="square" lIns="0" tIns="0" rIns="0" bIns="0" rtlCol="0" anchor="ctr"/>
          <a:lstStyle/>
          <a:p>
            <a:pPr indent="0" marL="0">
              <a:buNone/>
            </a:pPr>
            <a:r>
              <a:rPr lang="en-US" sz="1800" b="1" spc="400" kern="0" dirty="0">
                <a:solidFill>
                  <a:srgbClr val="B8541C"/>
                </a:solidFill>
                <a:latin typeface="Calibri" pitchFamily="34" charset="0"/>
                <a:ea typeface="Calibri" pitchFamily="34" charset="-122"/>
                <a:cs typeface="Calibri" pitchFamily="34" charset="-120"/>
              </a:rPr>
              <a:t>DEBT</a:t>
            </a:r>
            <a:endParaRPr lang="en-US" sz="1800" dirty="0"/>
          </a:p>
        </p:txBody>
      </p:sp>
      <p:sp>
        <p:nvSpPr>
          <p:cNvPr id="14" name="Text 7"/>
          <p:cNvSpPr txBox="1"/>
          <p:nvPr/>
        </p:nvSpPr>
        <p:spPr>
          <a:xfrm>
            <a:off x="4754880" y="2697480"/>
            <a:ext cx="3474720" cy="365760"/>
          </a:xfrm>
          <a:prstGeom prst="rect">
            <a:avLst/>
          </a:prstGeom>
          <a:noFill/>
          <a:ln/>
        </p:spPr>
        <p:txBody>
          <a:bodyPr wrap="square" lIns="0" tIns="0" rIns="0" bIns="0" rtlCol="0" anchor="ctr"/>
          <a:lstStyle/>
          <a:p>
            <a:pPr indent="0" marL="0">
              <a:buNone/>
            </a:pPr>
            <a:r>
              <a:rPr lang="en-US" sz="1800" b="1" spc="400" kern="0" dirty="0">
                <a:solidFill>
                  <a:srgbClr val="2A7F62"/>
                </a:solidFill>
                <a:latin typeface="Calibri" pitchFamily="34" charset="0"/>
                <a:ea typeface="Calibri" pitchFamily="34" charset="-122"/>
                <a:cs typeface="Calibri" pitchFamily="34" charset="-120"/>
              </a:rPr>
              <a:t>SUMSY</a:t>
            </a:r>
            <a:endParaRPr lang="en-US" sz="1800" dirty="0"/>
          </a:p>
        </p:txBody>
      </p:sp>
      <p:sp>
        <p:nvSpPr>
          <p:cNvPr id="15" name="Shape 8"/>
          <p:cNvSpPr/>
          <p:nvPr/>
        </p:nvSpPr>
        <p:spPr>
          <a:xfrm>
            <a:off x="3566160" y="3429000"/>
            <a:ext cx="960120" cy="960120"/>
          </a:xfrm>
          <a:prstGeom prst="ellipse">
            <a:avLst/>
          </a:prstGeom>
          <a:solidFill>
            <a:srgbClr val="1F1D1A"/>
          </a:solidFill>
          <a:ln w="12700">
            <a:solidFill>
              <a:srgbClr val="1F1D1A"/>
            </a:solidFill>
            <a:prstDash val="solid"/>
          </a:ln>
        </p:spPr>
      </p:sp>
      <p:pic>
        <p:nvPicPr>
          <p:cNvPr id="16" name="Image 5" descr="preencoded.png">    </p:cNvPr>
          <p:cNvPicPr>
            <a:picLocks noChangeAspect="1"/>
          </p:cNvPicPr>
          <p:nvPr/>
        </p:nvPicPr>
        <p:blipFill>
          <a:blip r:embed="rId6"/>
          <a:stretch>
            <a:fillRect/>
          </a:stretch>
        </p:blipFill>
        <p:spPr>
          <a:xfrm>
            <a:off x="3785616" y="3648456"/>
            <a:ext cx="521208" cy="521208"/>
          </a:xfrm>
          <a:prstGeom prst="rect">
            <a:avLst/>
          </a:prstGeom>
        </p:spPr>
      </p:pic>
      <p:sp>
        <p:nvSpPr>
          <p:cNvPr id="17" name="Shape 9"/>
          <p:cNvSpPr/>
          <p:nvPr/>
        </p:nvSpPr>
        <p:spPr>
          <a:xfrm>
            <a:off x="4800600" y="3429000"/>
            <a:ext cx="960120" cy="960120"/>
          </a:xfrm>
          <a:prstGeom prst="ellipse">
            <a:avLst/>
          </a:prstGeom>
          <a:solidFill>
            <a:srgbClr val="1F1D1A"/>
          </a:solidFill>
          <a:ln w="12700">
            <a:solidFill>
              <a:srgbClr val="1F1D1A"/>
            </a:solidFill>
            <a:prstDash val="solid"/>
          </a:ln>
        </p:spPr>
      </p:sp>
      <p:pic>
        <p:nvPicPr>
          <p:cNvPr id="18" name="Image 6" descr="preencoded.png">    </p:cNvPr>
          <p:cNvPicPr>
            <a:picLocks noChangeAspect="1"/>
          </p:cNvPicPr>
          <p:nvPr/>
        </p:nvPicPr>
        <p:blipFill>
          <a:blip r:embed="rId7"/>
          <a:stretch>
            <a:fillRect/>
          </a:stretch>
        </p:blipFill>
        <p:spPr>
          <a:xfrm>
            <a:off x="5020056" y="3648456"/>
            <a:ext cx="521208" cy="521208"/>
          </a:xfrm>
          <a:prstGeom prst="rect">
            <a:avLst/>
          </a:prstGeom>
        </p:spPr>
      </p:pic>
      <p:pic>
        <p:nvPicPr>
          <p:cNvPr id="19" name="Image 7" descr="preencoded.png">    </p:cNvPr>
          <p:cNvPicPr>
            <a:picLocks noChangeAspect="1"/>
          </p:cNvPicPr>
          <p:nvPr/>
        </p:nvPicPr>
        <p:blipFill>
          <a:blip r:embed="rId8"/>
          <a:stretch>
            <a:fillRect/>
          </a:stretch>
        </p:blipFill>
        <p:spPr>
          <a:xfrm>
            <a:off x="4754880" y="3383280"/>
            <a:ext cx="1051560" cy="1051560"/>
          </a:xfrm>
          <a:prstGeom prst="rect">
            <a:avLst/>
          </a:prstGeom>
        </p:spPr>
      </p:pic>
      <p:sp>
        <p:nvSpPr>
          <p:cNvPr id="20" name="Text 10"/>
          <p:cNvSpPr txBox="1"/>
          <p:nvPr/>
        </p:nvSpPr>
        <p:spPr>
          <a:xfrm>
            <a:off x="2377440" y="3749040"/>
            <a:ext cx="1005840" cy="365760"/>
          </a:xfrm>
          <a:prstGeom prst="rect">
            <a:avLst/>
          </a:prstGeom>
          <a:noFill/>
          <a:ln/>
        </p:spPr>
        <p:txBody>
          <a:bodyPr wrap="square" lIns="0" tIns="0" rIns="0" bIns="0" rtlCol="0" anchor="ctr"/>
          <a:lstStyle/>
          <a:p>
            <a:pPr indent="0" marL="0">
              <a:buNone/>
            </a:pPr>
            <a:r>
              <a:rPr lang="en-US" sz="1800" b="1" spc="400" kern="0" dirty="0">
                <a:solidFill>
                  <a:srgbClr val="1F1D1A"/>
                </a:solidFill>
                <a:latin typeface="Calibri" pitchFamily="34" charset="0"/>
                <a:ea typeface="Calibri" pitchFamily="34" charset="-122"/>
                <a:cs typeface="Calibri" pitchFamily="34" charset="-120"/>
              </a:rPr>
              <a:t>BOTH</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1D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548640"/>
            <a:ext cx="2926080" cy="1463040"/>
          </a:xfrm>
          <a:prstGeom prst="rect">
            <a:avLst/>
          </a:prstGeom>
        </p:spPr>
      </p:pic>
      <p:pic>
        <p:nvPicPr>
          <p:cNvPr id="3" name="Image 1" descr="preencoded.png">    </p:cNvPr>
          <p:cNvPicPr>
            <a:picLocks noChangeAspect="1"/>
          </p:cNvPicPr>
          <p:nvPr/>
        </p:nvPicPr>
        <p:blipFill>
          <a:blip r:embed="rId2"/>
          <a:stretch>
            <a:fillRect/>
          </a:stretch>
        </p:blipFill>
        <p:spPr>
          <a:xfrm>
            <a:off x="457200" y="2148840"/>
            <a:ext cx="2926080" cy="1463040"/>
          </a:xfrm>
          <a:prstGeom prst="rect">
            <a:avLst/>
          </a:prstGeom>
        </p:spPr>
      </p:pic>
      <p:pic>
        <p:nvPicPr>
          <p:cNvPr id="4" name="Image 2" descr="preencoded.png">    </p:cNvPr>
          <p:cNvPicPr>
            <a:picLocks noChangeAspect="1"/>
          </p:cNvPicPr>
          <p:nvPr/>
        </p:nvPicPr>
        <p:blipFill>
          <a:blip r:embed="rId3"/>
          <a:stretch>
            <a:fillRect/>
          </a:stretch>
        </p:blipFill>
        <p:spPr>
          <a:xfrm>
            <a:off x="6492240" y="640080"/>
            <a:ext cx="2011680" cy="2011680"/>
          </a:xfrm>
          <a:prstGeom prst="rect">
            <a:avLst/>
          </a:prstGeom>
        </p:spPr>
      </p:pic>
      <p:sp>
        <p:nvSpPr>
          <p:cNvPr id="5" name="Text 0"/>
          <p:cNvSpPr txBox="1"/>
          <p:nvPr/>
        </p:nvSpPr>
        <p:spPr>
          <a:xfrm>
            <a:off x="457200" y="3931920"/>
            <a:ext cx="82296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Which rule would you change?</a:t>
            </a:r>
            <a:endParaRPr lang="en-US" sz="3400" dirty="0"/>
          </a:p>
        </p:txBody>
      </p:sp>
      <p:sp>
        <p:nvSpPr>
          <p:cNvPr id="6" name="Text 1"/>
          <p:cNvSpPr txBox="1"/>
          <p:nvPr/>
        </p:nvSpPr>
        <p:spPr>
          <a:xfrm>
            <a:off x="6035040" y="2788920"/>
            <a:ext cx="2926080" cy="365760"/>
          </a:xfrm>
          <a:prstGeom prst="rect">
            <a:avLst/>
          </a:prstGeom>
          <a:noFill/>
          <a:ln/>
        </p:spPr>
        <p:txBody>
          <a:bodyPr wrap="square" lIns="0" tIns="0" rIns="0" bIns="0" rtlCol="0" anchor="ctr"/>
          <a:lstStyle/>
          <a:p>
            <a:pPr algn="ctr" indent="0" marL="0">
              <a:buNone/>
            </a:pPr>
            <a:r>
              <a:rPr lang="en-US" sz="1600" dirty="0">
                <a:solidFill>
                  <a:srgbClr val="CFC8BB"/>
                </a:solidFill>
                <a:latin typeface="Calibri" pitchFamily="34" charset="0"/>
                <a:ea typeface="Calibri" pitchFamily="34" charset="-122"/>
                <a:cs typeface="Calibri" pitchFamily="34" charset="-120"/>
              </a:rPr>
              <a:t>The village is public</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simulated economy – What it takes to survive</dc:title>
  <dc:subject>PptxGenJS Presentation</dc:subject>
  <dc:creator>PptxGenJS</dc:creator>
  <cp:lastModifiedBy>PptxGenJS</cp:lastModifiedBy>
  <cp:revision>1</cp:revision>
  <dcterms:created xsi:type="dcterms:W3CDTF">2026-10-14T13:03:53Z</dcterms:created>
  <dcterms:modified xsi:type="dcterms:W3CDTF">2026-10-14T13:03:53Z</dcterms:modified>
</cp:coreProperties>
</file>